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10728655" cy="4663440"/>
          </a:xfrm>
          <a:prstGeom prst="roundRect">
            <a:avLst/>
          </a:prstGeom>
          <a:solidFill>
            <a:srgbClr val="151D3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D9488"/>
                </a:solidFill>
                <a:latin typeface="Segoe UI"/>
              </a:defRPr>
            </a:pPr>
            <a:r>
              <a:t>🫁 LungAI</a:t>
            </a:r>
          </a:p>
          <a:p>
            <a:pPr>
              <a:spcBef>
                <a:spcPts val="800"/>
              </a:spcBef>
              <a:defRPr sz="2000" b="1">
                <a:solidFill>
                  <a:srgbClr val="F8FAFC"/>
                </a:solidFill>
                <a:latin typeface="Segoe UI"/>
              </a:defRPr>
            </a:pPr>
            <a:r>
              <a:t>Multi-Class Lung Disease Classification &amp; Decision-Support System</a:t>
            </a:r>
          </a:p>
          <a:p>
            <a:pPr>
              <a:spcBef>
                <a:spcPts val="1400"/>
              </a:spcBef>
              <a:defRPr sz="1300">
                <a:solidFill>
                  <a:srgbClr val="38BDF8"/>
                </a:solidFill>
                <a:latin typeface="Segoe UI"/>
              </a:defRPr>
            </a:pPr>
            <a:r>
              <a:t>Automated thoracic image classification using ResNet50 transfer learning, custom CNN models, and an interactive AI-powered workstation.</a:t>
            </a:r>
          </a:p>
          <a:p>
            <a:pPr>
              <a:spcBef>
                <a:spcPts val="2800"/>
              </a:spcBef>
              <a:defRPr sz="1100" b="1">
                <a:solidFill>
                  <a:srgbClr val="10B981"/>
                </a:solidFill>
                <a:latin typeface="Segoe UI"/>
              </a:defRPr>
            </a:pPr>
            <a:r>
              <a:t>Deep Learning  •  ResNet50 Transfer Learning  •  FastAPI Backend  •  React 18 Dashboard  •  95.21% Test Accuracy</a:t>
            </a:r>
          </a:p>
          <a:p>
            <a:pPr>
              <a:spcBef>
                <a:spcPts val="16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Academic &amp; Research ML Prototype  |  Not for Clinical Diagnosis  |  v1.0.0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Executive Summary &amp; Core Value Proposition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End-to-end artificial intelligence pipeline bridging computer vision and diagnostic decision support.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45643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309067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</a:defRPr>
            </a:pPr>
            <a:r>
              <a:t>🎯 Problem Space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Pulmonary Classification Needs</a:t>
            </a:r>
          </a:p>
          <a:p>
            <a:pPr>
              <a:spcBef>
                <a:spcPts val="1200"/>
              </a:spcBef>
              <a:defRPr sz="1150">
                <a:solidFill>
                  <a:srgbClr val="64748B"/>
                </a:solidFill>
              </a:defRPr>
            </a:pPr>
            <a:r>
              <a:t>Pulmonary conditions such as Pneumonia, COVID-19, and Tuberculosis require timely image classification to assist researchers and evaluators in prioritizing scan reviews.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0832" y="1463040"/>
            <a:ext cx="345643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53712" y="1645920"/>
            <a:ext cx="309067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</a:defRPr>
            </a:pPr>
            <a:r>
              <a:t>🧠 Deep Learning Engine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Dual Model Evaluation</a:t>
            </a:r>
          </a:p>
          <a:p>
            <a:pPr>
              <a:spcBef>
                <a:spcPts val="1200"/>
              </a:spcBef>
              <a:defRPr sz="1150">
                <a:solidFill>
                  <a:srgbClr val="64748B"/>
                </a:solidFill>
              </a:defRPr>
            </a:pPr>
            <a:r>
              <a:t>Evaluates predictions across pre-trained ResNet50 transfer learning and a custom 4-block CNN. Reaches 95.21% accuracy and 99.39% AUC-ROC on held-out test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1463040"/>
            <a:ext cx="345643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93024" y="1645920"/>
            <a:ext cx="309067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</a:defRPr>
            </a:pPr>
            <a:r>
              <a:t>💻 AI-Powered Workstation</a:t>
            </a:r>
          </a:p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Full-Stack Web Interface</a:t>
            </a:r>
          </a:p>
          <a:p>
            <a:pPr>
              <a:spcBef>
                <a:spcPts val="1200"/>
              </a:spcBef>
              <a:defRPr sz="1150">
                <a:solidFill>
                  <a:srgbClr val="64748B"/>
                </a:solidFill>
              </a:defRPr>
            </a:pPr>
            <a:r>
              <a:t>FastAPI backend &amp; React 18 frontend with 1-click scan presets, radiology windowing controls, Grad-CAM overlays, patient management, and automated report generation.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Problem Statement &amp; Classification Context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Addressing diagnostic complexity in thoracic radiograph interpretation.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7706"/>
                </a:solidFill>
              </a:defRPr>
            </a:pPr>
            <a:r>
              <a:t>⚠️ Challenges in Thoracic Image Analysis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High Scan Volumes: Over 2 billion X-rays performed globally per year, creating massive review backlogs.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Time-Sensitive Pathologies: Pneumonia and COVID-19 progress rapidly; early identification is crucial.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Visual Feature Overlap: Bacterial opacity, viral infiltration, and TB cavities share subtle radiographic features.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Second Opinion Access: Non-specialist centers lack rapid access to specialized thoracic AI decision-support tools.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</a:defRPr>
            </a:pPr>
            <a:r>
              <a:t>💡 The LungAI Solution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Automated Multi-Class Classification: Categorizes scans into Normal, Pneumonia, COVID-19, Tuberculosis, or Lung Cancer in &lt;1.5 seconds.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Urgency Level Categorization: Computes urgency tags (Emergency, Urgent, Routine) based on predicted disease and confidence threshold.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Dual Model Validation: Runs CNN and ResNet50 models in parallel and displays comparative confidence scores.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• AI-Powered Workstation: Provides interactive windowing, sample presets, and structured classification report export.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End-to-End System Architecture</a:t>
            </a:r>
          </a:p>
          <a:p>
            <a:pPr>
              <a:spcBef>
                <a:spcPts val="400"/>
              </a:spcBef>
              <a:defRPr sz="1200">
                <a:solidFill>
                  <a:srgbClr val="38BDF8"/>
                </a:solidFill>
                <a:latin typeface="Segoe UI"/>
              </a:defRPr>
            </a:pPr>
            <a:r>
              <a:t>Decoupled 4-tier pipeline spanning preprocessing, dual model evaluation, ORM database, and React workstation.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456432" cy="2011680"/>
          </a:xfrm>
          <a:prstGeom prst="roundRect">
            <a:avLst/>
          </a:prstGeom>
          <a:solidFill>
            <a:srgbClr val="151D3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30906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1. Input Scan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Chest X-Ray</a:t>
            </a:r>
            <a:br/>
            <a:r>
              <a:t>(JPEG / PNG / TIFF)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0832" y="1463040"/>
            <a:ext cx="3456432" cy="2011680"/>
          </a:xfrm>
          <a:prstGeom prst="roundRect">
            <a:avLst/>
          </a:prstGeom>
          <a:solidFill>
            <a:srgbClr val="151D3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53712" y="1645920"/>
            <a:ext cx="30906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2. Preprocessing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Noise Reduction (CLAHE)</a:t>
            </a:r>
            <a:br/>
            <a:r>
              <a:t>224x224 RGB Scaling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1463040"/>
            <a:ext cx="3456432" cy="2011680"/>
          </a:xfrm>
          <a:prstGeom prst="roundRect">
            <a:avLst/>
          </a:prstGeom>
          <a:solidFill>
            <a:srgbClr val="151D3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93024" y="1645920"/>
            <a:ext cx="30906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3. Dual Models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ResNet50 (Transfer)</a:t>
            </a:r>
            <a:br/>
            <a:r>
              <a:t>Custom 4-Block CNN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3456432" cy="2011680"/>
          </a:xfrm>
          <a:prstGeom prst="roundRect">
            <a:avLst/>
          </a:prstGeom>
          <a:solidFill>
            <a:srgbClr val="151D3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30906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4. Decision Engine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Multi-Class Probabilities</a:t>
            </a:r>
            <a:br/>
            <a:r>
              <a:t>Urgency Categorization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3840480"/>
            <a:ext cx="3456432" cy="2011680"/>
          </a:xfrm>
          <a:prstGeom prst="roundRect">
            <a:avLst/>
          </a:prstGeom>
          <a:solidFill>
            <a:srgbClr val="151D3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4023360"/>
            <a:ext cx="30906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5. REST API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FastAPI Endpoints</a:t>
            </a:r>
            <a:br/>
            <a:r>
              <a:t>SQLAlchemy + SQLite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3840480"/>
            <a:ext cx="3456432" cy="2011680"/>
          </a:xfrm>
          <a:prstGeom prst="roundRect">
            <a:avLst/>
          </a:prstGeom>
          <a:solidFill>
            <a:srgbClr val="151D3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4" y="4023360"/>
            <a:ext cx="30906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6. Workstation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React 18 AI Workstation</a:t>
            </a:r>
            <a:br/>
            <a:r>
              <a:t>PDF Reports &amp; Charts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Dataset Stratification &amp; Class Balance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Aggregated 10,864 chest radiographs across 5 distinct disease categories.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8580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645920"/>
          <a:ext cx="6492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3060"/>
                <a:gridCol w="1623060"/>
                <a:gridCol w="1623060"/>
                <a:gridCol w="1623060"/>
              </a:tblGrid>
              <a:tr h="58782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Disease Category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Image Count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Share (%)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8FAFC"/>
                          </a:solidFill>
                        </a:defRPr>
                      </a:pPr>
                      <a:r>
                        <a:t>Source Repository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Pneumonia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4,273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39.33%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Kermany et al. / NIH ChestX-ray14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COVID-19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3,616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33.28%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COVID-19 Radiography Database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1,583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14.57%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Kermany et al. Benchmark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Tuberculosis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6.44%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TB Chest X-ray Database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Lung Cancer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692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6.37%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Public CT / Radiograph Dataset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Total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10,864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100.00%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</a:defRPr>
                      </a:pPr>
                      <a:r>
                        <a:t>5 Active Disease Classes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863840" y="1463040"/>
            <a:ext cx="35661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64592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⚙️ Stratified Data Split</a:t>
            </a:r>
          </a:p>
          <a:p>
            <a:pPr>
              <a:spcBef>
                <a:spcPts val="1000"/>
              </a:spcBef>
              <a:defRPr b="1" sz="1150">
                <a:solidFill>
                  <a:srgbClr val="0F172A"/>
                </a:solidFill>
              </a:defRPr>
            </a:pPr>
            <a:r>
              <a:t>Training Set (70%)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7,604 images</a:t>
            </a:r>
            <a:br/>
            <a:r>
              <a:t>Data augmentation: ±15° rotation, horizontal flip, brightness jitter.</a:t>
            </a:r>
          </a:p>
          <a:p>
            <a:pPr>
              <a:spcBef>
                <a:spcPts val="1000"/>
              </a:spcBef>
              <a:defRPr b="1" sz="1150">
                <a:solidFill>
                  <a:srgbClr val="0F172A"/>
                </a:solidFill>
              </a:defRPr>
            </a:pPr>
            <a:r>
              <a:t>Validation Set (15%)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1,630 images</a:t>
            </a:r>
            <a:br/>
            <a:r>
              <a:t>Used strictly for early stopping &amp; hyperparameter tuning.</a:t>
            </a:r>
          </a:p>
          <a:p>
            <a:pPr>
              <a:spcBef>
                <a:spcPts val="1000"/>
              </a:spcBef>
              <a:defRPr b="1" sz="1150">
                <a:solidFill>
                  <a:srgbClr val="0F172A"/>
                </a:solidFill>
              </a:defRPr>
            </a:pPr>
            <a:r>
              <a:t>Held-Out Test Set (15%)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1,630 images</a:t>
            </a:r>
            <a:br/>
            <a:r>
              <a:t>Unseen evaluation split used for verified benchmarks.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Image Preprocessing &amp; Augmentation Engine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Standardizing raw radiographs for deep feature extraction.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578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1. Format Normalization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Converts single-channel grayscale or 4-channel BGRA images into standard 3-channel RGB format.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9632" y="1463040"/>
            <a:ext cx="52578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82512" y="164592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2. Noise Reduction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Applies a 3x3 Gaussian Blur filter to smooth high-frequency radiograph noise.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2578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3. Contrast Enhancement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Employs Single-Channel CLAHE (Contrast Limited Adaptive Histogram Equalization) to accentuate opacity edges.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3840480"/>
            <a:ext cx="52578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402336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4. ImageNet Scaling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Resizes images to 224x224 float32 tensors scaled to [0, 1] range matching ResNet50 input requirements.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Baseline Architecture: Custom 4-Block CNN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Convolutional neural network baseline built from scratch.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🏗️ CNN Architectural Topology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4 Sequential Conv2D Blocks (32, 64, 128, 256 filters)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3x3 Convolutional Kernels + ReLU Activation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2x2 Max-Pooling layers for spatial downsampling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Batch Normalization after each Conv block for gradient stability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Spatial Dropout (0.25 - 0.50) to mitigate overfitting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Global Average Pooling -&gt; Dense (512 units) -&gt; Softmax (5 classes)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Model Parameters: ~8.7 MB lightweight checkpoint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📊 Baseline Test Performance</a:t>
            </a:r>
          </a:p>
          <a:p>
            <a:pPr>
              <a:spcBef>
                <a:spcPts val="1000"/>
              </a:spcBef>
              <a:defRPr b="1" sz="1300">
                <a:solidFill>
                  <a:srgbClr val="0D9488"/>
                </a:solidFill>
              </a:defRPr>
            </a:pPr>
            <a:r>
              <a:t>Accuracy: 78.22%</a:t>
            </a:r>
          </a:p>
          <a:p>
            <a:pPr>
              <a:spcBef>
                <a:spcPts val="1000"/>
              </a:spcBef>
              <a:defRPr b="1" sz="1300">
                <a:solidFill>
                  <a:srgbClr val="0D9488"/>
                </a:solidFill>
              </a:defRPr>
            </a:pPr>
            <a:r>
              <a:t>Precision: 78.50%</a:t>
            </a:r>
          </a:p>
          <a:p>
            <a:pPr>
              <a:spcBef>
                <a:spcPts val="1000"/>
              </a:spcBef>
              <a:defRPr b="1" sz="1300">
                <a:solidFill>
                  <a:srgbClr val="0D9488"/>
                </a:solidFill>
              </a:defRPr>
            </a:pPr>
            <a:r>
              <a:t>Recall: 78.22%</a:t>
            </a:r>
          </a:p>
          <a:p>
            <a:pPr>
              <a:spcBef>
                <a:spcPts val="1000"/>
              </a:spcBef>
              <a:defRPr b="1" sz="1300">
                <a:solidFill>
                  <a:srgbClr val="0D9488"/>
                </a:solidFill>
              </a:defRPr>
            </a:pPr>
            <a:r>
              <a:t>F1-Score: 72.16%</a:t>
            </a:r>
          </a:p>
          <a:p>
            <a:pPr>
              <a:spcBef>
                <a:spcPts val="1000"/>
              </a:spcBef>
              <a:defRPr b="1" sz="1300">
                <a:solidFill>
                  <a:srgbClr val="0D9488"/>
                </a:solidFill>
              </a:defRPr>
            </a:pPr>
            <a:r>
              <a:t>AUC-ROC: 88.50%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Primary Model: ResNet50 Transfer Learning</a:t>
            </a:r>
          </a:p>
          <a:p>
            <a:pPr>
              <a:spcBef>
                <a:spcPts val="400"/>
              </a:spcBef>
              <a:defRPr sz="1200">
                <a:solidFill>
                  <a:srgbClr val="38BDF8"/>
                </a:solidFill>
                <a:latin typeface="Segoe UI"/>
              </a:defRPr>
            </a:pPr>
            <a:r>
              <a:t>50-layer deep residual network fine-tuned on chest radiographs.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456432" cy="4663440"/>
          </a:xfrm>
          <a:prstGeom prst="roundRect">
            <a:avLst/>
          </a:prstGeom>
          <a:solidFill>
            <a:srgbClr val="151D3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309067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1. Pre-trained Backbone</a:t>
            </a:r>
          </a:p>
          <a:p>
            <a:pPr>
              <a:spcBef>
                <a:spcPts val="400"/>
              </a:spcBef>
              <a:defRPr sz="1200" b="1">
                <a:solidFill>
                  <a:srgbClr val="38BDF8"/>
                </a:solidFill>
              </a:defRPr>
            </a:pPr>
            <a:r>
              <a:t>ImageNet Weights</a:t>
            </a:r>
          </a:p>
          <a:p>
            <a:pPr>
              <a:spcBef>
                <a:spcPts val="1200"/>
              </a:spcBef>
              <a:defRPr sz="1100">
                <a:solidFill>
                  <a:srgbClr val="F8FAFC"/>
                </a:solidFill>
              </a:defRPr>
            </a:pPr>
            <a:r>
              <a:t>Utilizes 50-layer residual connections to bypass vanishing gradients and leverage deep visual feature primitives.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0832" y="1463040"/>
            <a:ext cx="3456432" cy="4663440"/>
          </a:xfrm>
          <a:prstGeom prst="roundRect">
            <a:avLst/>
          </a:prstGeom>
          <a:solidFill>
            <a:srgbClr val="151D3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53712" y="1645920"/>
            <a:ext cx="309067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2. Phase 1 Warmup</a:t>
            </a:r>
          </a:p>
          <a:p>
            <a:pPr>
              <a:spcBef>
                <a:spcPts val="400"/>
              </a:spcBef>
              <a:defRPr sz="1200" b="1">
                <a:solidFill>
                  <a:srgbClr val="38BDF8"/>
                </a:solidFill>
              </a:defRPr>
            </a:pPr>
            <a:r>
              <a:t>Frozen Feature Extractor</a:t>
            </a:r>
          </a:p>
          <a:p>
            <a:pPr>
              <a:spcBef>
                <a:spcPts val="1200"/>
              </a:spcBef>
              <a:defRPr sz="1100">
                <a:solidFill>
                  <a:srgbClr val="F8FAFC"/>
                </a:solidFill>
              </a:defRPr>
            </a:pPr>
            <a:r>
              <a:t>2 Epochs training classification head (Dense 512 + Softmax) with Adam Optimizer (learning rate = 1e-3).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1463040"/>
            <a:ext cx="3456432" cy="4663440"/>
          </a:xfrm>
          <a:prstGeom prst="roundRect">
            <a:avLst/>
          </a:prstGeom>
          <a:solidFill>
            <a:srgbClr val="151D3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93024" y="1645920"/>
            <a:ext cx="309067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3. Phase 2 Fine-Tuning</a:t>
            </a:r>
          </a:p>
          <a:p>
            <a:pPr>
              <a:spcBef>
                <a:spcPts val="400"/>
              </a:spcBef>
              <a:defRPr sz="1200" b="1">
                <a:solidFill>
                  <a:srgbClr val="38BDF8"/>
                </a:solidFill>
              </a:defRPr>
            </a:pPr>
            <a:r>
              <a:t>Unfrozen Top Residual Blocks</a:t>
            </a:r>
          </a:p>
          <a:p>
            <a:pPr>
              <a:spcBef>
                <a:spcPts val="1200"/>
              </a:spcBef>
              <a:defRPr sz="1100">
                <a:solidFill>
                  <a:srgbClr val="F8FAFC"/>
                </a:solidFill>
              </a:defRPr>
            </a:pPr>
            <a:r>
              <a:t>4 Epochs fine-tuning deep feature representations with low learning rate schedule (1e-4 to 1e-5).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Key Evaluation Results — ResNet50 Benchmarks</a:t>
            </a:r>
          </a:p>
          <a:p>
            <a:pPr>
              <a:spcBef>
                <a:spcPts val="400"/>
              </a:spcBef>
              <a:defRPr sz="1200">
                <a:solidFill>
                  <a:srgbClr val="38BDF8"/>
                </a:solidFill>
                <a:latin typeface="Segoe UI"/>
              </a:defRPr>
            </a:pPr>
            <a:r>
              <a:t>Evaluated on 1,630 held-out test set images (never seen during training).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57800" cy="2011680"/>
          </a:xfrm>
          <a:prstGeom prst="roundRect">
            <a:avLst/>
          </a:prstGeom>
          <a:solidFill>
            <a:srgbClr val="151D3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95.21%</a:t>
            </a:r>
          </a:p>
          <a:p>
            <a:pPr>
              <a:spcBef>
                <a:spcPts val="200"/>
              </a:spcBef>
              <a:defRPr sz="1300" b="1">
                <a:solidFill>
                  <a:srgbClr val="F8FAFC"/>
                </a:solidFill>
              </a:defRPr>
            </a:pPr>
            <a:r>
              <a:t>ACCURACY</a:t>
            </a:r>
          </a:p>
          <a:p>
            <a:pPr>
              <a:defRPr sz="1100">
                <a:solidFill>
                  <a:srgbClr val="38BDF8"/>
                </a:solidFill>
              </a:defRPr>
            </a:pPr>
            <a:r>
              <a:t>+16.99% vs Baseline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9632" y="1463040"/>
            <a:ext cx="5257800" cy="2011680"/>
          </a:xfrm>
          <a:prstGeom prst="roundRect">
            <a:avLst/>
          </a:prstGeom>
          <a:solidFill>
            <a:srgbClr val="151D3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3952" y="164592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t>95.17%</a:t>
            </a:r>
          </a:p>
          <a:p>
            <a:pPr>
              <a:spcBef>
                <a:spcPts val="200"/>
              </a:spcBef>
              <a:defRPr sz="1300" b="1">
                <a:solidFill>
                  <a:srgbClr val="F8FAFC"/>
                </a:solidFill>
              </a:defRPr>
            </a:pPr>
            <a:r>
              <a:t>F1-SCORE</a:t>
            </a:r>
          </a:p>
          <a:p>
            <a:pPr>
              <a:defRPr sz="1100">
                <a:solidFill>
                  <a:srgbClr val="38BDF8"/>
                </a:solidFill>
              </a:defRPr>
            </a:pPr>
            <a:r>
              <a:t>+23.01% vs Baseline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257800" cy="2011680"/>
          </a:xfrm>
          <a:prstGeom prst="roundRect">
            <a:avLst/>
          </a:prstGeom>
          <a:solidFill>
            <a:srgbClr val="151D3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02336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D9488"/>
                </a:solidFill>
              </a:defRPr>
            </a:pPr>
            <a:r>
              <a:t>99.39%</a:t>
            </a:r>
          </a:p>
          <a:p>
            <a:pPr>
              <a:spcBef>
                <a:spcPts val="200"/>
              </a:spcBef>
              <a:defRPr sz="1300" b="1">
                <a:solidFill>
                  <a:srgbClr val="F8FAFC"/>
                </a:solidFill>
              </a:defRPr>
            </a:pPr>
            <a:r>
              <a:t>AUC-ROC</a:t>
            </a:r>
          </a:p>
          <a:p>
            <a:pPr>
              <a:defRPr sz="1100">
                <a:solidFill>
                  <a:srgbClr val="38BDF8"/>
                </a:solidFill>
              </a:defRPr>
            </a:pPr>
            <a:r>
              <a:t>+10.89% vs Baseline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3840480"/>
            <a:ext cx="5257800" cy="2011680"/>
          </a:xfrm>
          <a:prstGeom prst="roundRect">
            <a:avLst/>
          </a:prstGeom>
          <a:solidFill>
            <a:srgbClr val="151D3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402336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95.18%</a:t>
            </a:r>
          </a:p>
          <a:p>
            <a:pPr>
              <a:spcBef>
                <a:spcPts val="200"/>
              </a:spcBef>
              <a:defRPr sz="1300" b="1">
                <a:solidFill>
                  <a:srgbClr val="F8FAFC"/>
                </a:solidFill>
              </a:defRPr>
            </a:pPr>
            <a:r>
              <a:t>PRECISION</a:t>
            </a:r>
          </a:p>
          <a:p>
            <a:pPr>
              <a:defRPr sz="1100">
                <a:solidFill>
                  <a:srgbClr val="38BDF8"/>
                </a:solidFill>
              </a:defRPr>
            </a:pPr>
            <a:r>
              <a:t>+16.68% vs Baseline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Per-Class Evaluation &amp; Confusion Matrix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ResNet50 classification breakdown across individual thoracic diseases.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9436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645920"/>
          <a:ext cx="55778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568"/>
                <a:gridCol w="1115568"/>
                <a:gridCol w="1115568"/>
                <a:gridCol w="1115568"/>
                <a:gridCol w="1115568"/>
              </a:tblGrid>
              <a:tr h="685800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8FAFC"/>
                          </a:solidFill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8FAFC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8FAFC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8FAFC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8FAFC"/>
                          </a:solidFill>
                        </a:defRPr>
                      </a:pPr>
                      <a:r>
                        <a:t>Support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COVID-19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543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Lung Cancer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104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237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Pneumonia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641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Tuberculosis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105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949440" y="1463040"/>
            <a:ext cx="44805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645920"/>
            <a:ext cx="411480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Training Dynamics &amp; Loss Convergence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Monitoring training/validation loss curves for ResNet50 and CNN models.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8580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aining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6492240" cy="4297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463040"/>
            <a:ext cx="35661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0" y="1645920"/>
            <a:ext cx="3200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📈 Key Observations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Rapid Convergence: ResNet50 loss drops sharply within 2 transfer learning epochs.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Minimal Overfitting: Validation loss closely tracks training loss throughout fine-tuning.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Stable Optimization: Adam optimizer with learning rate decay prevents loss oscillations.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Early Stopping Trigger: Validation loss plateaued at Epoch 6, saving optimal weights.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AI-Powered Workstation — Image Analysis &amp; Classification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Interactive web dashboard with 1-click presets and windowing controls.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7498079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_landing_analyze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7315200" cy="4480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1463040"/>
            <a:ext cx="2926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1645920"/>
            <a:ext cx="2560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🖥️ Workstation Features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Focal Dropzone: Drag &amp; drop radiograph upload.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1-Click Presets: Instant demo testing (Normal, Pneumonia, COVID, TB).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Windowing Tools: Zoom (1x-2.5x), High Contrast mode, Grad-CAM toggle.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Urgency Category: Routine, Urgent, or Emergency status.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Report Modal: Formatted PDF export.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AI-Powered Workstation — Directory &amp; History Audit Logs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Managing patient records and auditing past inference results.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_patient_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5029200" cy="4480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_history_reco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54480"/>
            <a:ext cx="50292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Model Performance Dashboard &amp; PDF Reports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Interactive analytics and downloadable PDF classification summaries.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7498079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_model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7315200" cy="4480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03920" y="1463040"/>
            <a:ext cx="2926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1645920"/>
            <a:ext cx="2560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📊 Insights Features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Recharts Analytics: Bar, Radar, and Loss curves comparing CNN vs ResNet50.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Real-Time Metrics: Live query of trained benchmark endpoints.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PDF Report Export: Print-ready structured classification summary.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Search &amp; Filters: Urgency filter pills (Routine, Urgent, Emergency).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Backend API Ecosystem &amp; Test Suite</a:t>
            </a:r>
          </a:p>
          <a:p>
            <a:pPr>
              <a:spcBef>
                <a:spcPts val="400"/>
              </a:spcBef>
              <a:defRPr sz="1200">
                <a:solidFill>
                  <a:srgbClr val="38BDF8"/>
                </a:solidFill>
                <a:latin typeface="Segoe UI"/>
              </a:defRPr>
            </a:pPr>
            <a:r>
              <a:t>FastAPI web framework, Async SQLAlchemy ORM, and verified pytest suite.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57800" cy="2011680"/>
          </a:xfrm>
          <a:prstGeom prst="roundRect">
            <a:avLst/>
          </a:prstGeom>
          <a:solidFill>
            <a:srgbClr val="151D3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FastAPI Service Layer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Asynchronous Python web server with auto-generated OpenAPI / Swagger docs (http://localhost:8000/docs).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9632" y="1463040"/>
            <a:ext cx="5257800" cy="2011680"/>
          </a:xfrm>
          <a:prstGeom prst="roundRect">
            <a:avLst/>
          </a:prstGeom>
          <a:solidFill>
            <a:srgbClr val="151D3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3952" y="164592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SQLAlchemy ORM + SQLite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Relational database schema managing patient records, prediction logs, and report content.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257800" cy="2011680"/>
          </a:xfrm>
          <a:prstGeom prst="roundRect">
            <a:avLst/>
          </a:prstGeom>
          <a:solidFill>
            <a:srgbClr val="151D3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02336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22 / 22 Automated Tests Passed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Full pytest suite covering image preprocessing, ORM endpoints, and model inference in 1.44s.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3840480"/>
            <a:ext cx="5257800" cy="2011680"/>
          </a:xfrm>
          <a:prstGeom prst="roundRect">
            <a:avLst/>
          </a:prstGeom>
          <a:solidFill>
            <a:srgbClr val="151D3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402336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Robust Exception Interceptors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Handles 422 validation errors, missing image files, and model loading errors gracefully.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Limitations &amp; Academic Medical Disclaimer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  <a:latin typeface="Segoe UI"/>
              </a:defRPr>
            </a:pPr>
            <a:r>
              <a:t>Transparent disclosure of research scope and model boundaries.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97706"/>
                </a:solidFill>
              </a:defRPr>
            </a:pPr>
            <a:r>
              <a:t>⚠️ Known Model Limitations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Tuberculosis Sensitivity: TB represents 6.44% of dataset images, resulting in 81% sensitivity. Low-confidence outputs automatically add advisory notes.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Projection Modality: Preprocessing assumes standard PA/AP chest radiograph projections.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Hardware Dependency: Inference runs on standard CPU/GPU hardware; optimal batch throughput achieved with CUDA acceleration.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⚕️ Academic Research Disclaimer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This software is an artificial intelligence research and educational prototype designed to demonstrate multi-class radiographic image classification and decision-support workflows.</a:t>
            </a:r>
            <a:br/>
            <a:br/>
            <a:r>
              <a:t>IT IS NOT CERTIFIED AS A MEDICAL DIAGNOSTIC DEVICE BY FDA, CE, OR ANY REGULATORY BODY.</a:t>
            </a:r>
            <a:br/>
            <a:br/>
            <a:r>
              <a:t>Predictions generated by this system must NOT be used for self-diagnosis or as a substitute for professional clinical evaluation by a qualified radiologist or physician.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10728655" cy="4663440"/>
          </a:xfrm>
          <a:prstGeom prst="roundRect">
            <a:avLst/>
          </a:prstGeom>
          <a:solidFill>
            <a:srgbClr val="151D3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D9488"/>
                </a:solidFill>
              </a:defRPr>
            </a:pPr>
            <a:r>
              <a:t>🎉 Conclusion &amp; Project Summary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✔ Verified Performance: Reached 95.21% test accuracy and 99.39% AUC-ROC with ResNet50 transfer learning.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✔ Production-Grade Software: Decoupled FastAPI backend + React 18 workstation with 22/22 unit tests passing.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✔ AI-Powered Workstation: Preset scan triggers, radiology windowing, Grad-CAM overlays, and PDF report exports.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✔ Open &amp; Extensible: Fully documented GitHub repository with automated model downloader and Docker support.</a:t>
            </a:r>
          </a:p>
          <a:p>
            <a:pPr>
              <a:spcBef>
                <a:spcPts val="2000"/>
              </a:spcBef>
              <a:defRPr sz="1200" b="1">
                <a:solidFill>
                  <a:srgbClr val="38BDF8"/>
                </a:solidFill>
              </a:defRPr>
            </a:pPr>
            <a:r>
              <a:t>Repository: https://github.com/KSathwik/Lung_Disease_Detector  |  LungAI v1.0.0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