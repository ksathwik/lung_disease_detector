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97680"/>
            <a:ext cx="12191695" cy="73152"/>
          </a:xfrm>
          <a:prstGeom prst="rect">
            <a:avLst/>
          </a:prstGeom>
          <a:solidFill>
            <a:srgbClr val="2EA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Calibri"/>
              </a:rPr>
              <a:t>LUNGAI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7744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48CAE4"/>
                </a:solidFill>
                <a:latin typeface="Calibri"/>
              </a:rPr>
              <a:t>Robust Multi-Class Lung Disease Detection from Chest X-Ray Images
Using Deep Learning and Cross-Source Generalization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48056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Candidate: SATHWIK KATKAM  (Roll No: 22011D0501)   |   Supervisor: Internal Guide, Assistant Professor</a:t>
            </a:r>
          </a:p>
          <a:p>
            <a:r>
              <a:rPr sz="1300">
                <a:solidFill>
                  <a:srgbClr val="CFDDEE"/>
                </a:solidFill>
                <a:latin typeface="Calibri"/>
              </a:rPr>
              <a:t>Department of Computer Science and Engineering  •  Jawaharlal Nehru Technological University Hyderabad  •  2025–2026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2EA3D9"/>
                </a:solidFill>
                <a:latin typeface="Calibri"/>
              </a:rPr>
              <a:t>Model D (DenseNet-121 Frequency V5)  •  V5 Canonical Dataset (N=10,547)  •  CXR Gate (tau=0.83)  •  FastAPI + React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A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100" b="1">
                <a:solidFill>
                  <a:srgbClr val="48CAE4"/>
                </a:solidFill>
                <a:latin typeface="Calibri"/>
              </a:rPr>
              <a:t>CLINICAL BOTTLENECK
</a:t>
            </a:r>
            <a:r>
              <a:rPr sz="2400" b="1">
                <a:solidFill>
                  <a:srgbClr val="FFFFFF"/>
                </a:solidFill>
                <a:latin typeface="Calibri"/>
              </a:rPr>
              <a:t>Clinical Problem &amp; Healthcare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5120640" cy="4754880"/>
          </a:xfrm>
          <a:prstGeom prst="rect">
            <a:avLst/>
          </a:prstGeom>
          <a:solidFill>
            <a:srgbClr val="F2F6FB"/>
          </a:solidFill>
          <a:ln w="12700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5120640" cy="43891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62456"/>
            <a:ext cx="48463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Thoracic Disease Burden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548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Massive Global Impact: </a:t>
            </a:r>
            <a:r>
              <a:rPr sz="1200">
                <a:solidFill>
                  <a:srgbClr val="232A34"/>
                </a:solidFill>
                <a:latin typeface="Calibri"/>
              </a:rPr>
              <a:t>Lower respiratory infections, COVID-19, and tuberculosis rank among the top ten global causes of mortality.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Universal First-Line Modality: </a:t>
            </a:r>
            <a:r>
              <a:rPr sz="1200">
                <a:solidFill>
                  <a:srgbClr val="232A34"/>
                </a:solidFill>
                <a:latin typeface="Calibri"/>
              </a:rPr>
              <a:t>Chest radiography (CXR) is the most ubiquitous imaging tool due to low radiation (~0.1 mSv) and low cost.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Physical Imaging Limitations: </a:t>
            </a:r>
            <a:r>
              <a:rPr sz="1200">
                <a:solidFill>
                  <a:srgbClr val="232A34"/>
                </a:solidFill>
                <a:latin typeface="Calibri"/>
              </a:rPr>
              <a:t>Planar CXR collapses 3D thoracic anatomy into 2D projections, causing severe anatomical superimposition.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Subtle Pathologies: </a:t>
            </a:r>
            <a:r>
              <a:rPr sz="1200">
                <a:solidFill>
                  <a:srgbClr val="232A34"/>
                </a:solidFill>
                <a:latin typeface="Calibri"/>
              </a:rPr>
              <a:t>Early ground-glass opacities, apical cavities, and solitary nodules are easily obscured by overlying ribs and vasculature.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25880"/>
            <a:ext cx="5212080" cy="4754880"/>
          </a:xfrm>
          <a:prstGeom prst="rect">
            <a:avLst/>
          </a:prstGeom>
          <a:solidFill>
            <a:srgbClr val="F2F6FB"/>
          </a:solidFill>
          <a:ln w="12700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25880"/>
            <a:ext cx="5212080" cy="438912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362456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Systemic Workflow Crises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8463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Acute Radiologist Shortages: </a:t>
            </a:r>
            <a:r>
              <a:rPr sz="1200">
                <a:solidFill>
                  <a:srgbClr val="232A34"/>
                </a:solidFill>
                <a:latin typeface="Calibri"/>
              </a:rPr>
              <a:t>In low- and middle-income regions, patient-to-radiologist ratios exceed 100,000:1, leaving emergency wards uncovered.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Unprioritized PACS FIFO Queues: </a:t>
            </a:r>
            <a:r>
              <a:rPr sz="1200">
                <a:solidFill>
                  <a:srgbClr val="232A34"/>
                </a:solidFill>
                <a:latin typeface="Calibri"/>
              </a:rPr>
              <a:t>Emergency scans sit in First-In, First-Out worklists alongside routine pre-employment physical screenings.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Severe Turnaround Delays: </a:t>
            </a:r>
            <a:r>
              <a:rPr sz="1200">
                <a:solidFill>
                  <a:srgbClr val="232A34"/>
                </a:solidFill>
                <a:latin typeface="Calibri"/>
              </a:rPr>
              <a:t>Diagnostic report backlogs routinely reach 24 to 72+ hours in public hospital reading rooms.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High Disagreement Rates: </a:t>
            </a:r>
            <a:r>
              <a:rPr sz="1200">
                <a:solidFill>
                  <a:srgbClr val="232A34"/>
                </a:solidFill>
                <a:latin typeface="Calibri"/>
              </a:rPr>
              <a:t>Cognitive fatigue during extended shifts produces documented 15% to 30% inter-observer disagreement rates.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i="1">
                <a:solidFill>
                  <a:srgbClr val="8A99AD"/>
                </a:solidFill>
                <a:latin typeface="Calibri"/>
              </a:rPr>
              <a:t>LungAI M.Tech Dissertation  |  Department of CSE, JNTUH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A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100" b="1">
                <a:solidFill>
                  <a:srgbClr val="48CAE4"/>
                </a:solidFill>
                <a:latin typeface="Calibri"/>
              </a:rPr>
              <a:t>OBJECTIVES &amp; MOTIVATION
</a:t>
            </a:r>
            <a:r>
              <a:rPr sz="2400" b="1">
                <a:solidFill>
                  <a:srgbClr val="FFFFFF"/>
                </a:solidFill>
                <a:latin typeface="Calibri"/>
              </a:rPr>
              <a:t>Clinical Motivation &amp; Research 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3291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B0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73152" cy="1005840"/>
          </a:xfrm>
          <a:prstGeom prst="rect">
            <a:avLst/>
          </a:prstGeom>
          <a:solidFill>
            <a:srgbClr val="B0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99032"/>
            <a:ext cx="310896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24–72 Hours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55606E"/>
                </a:solidFill>
                <a:latin typeface="Calibri"/>
              </a:rPr>
              <a:t>Conventional PACS FIFO Turnaround Delay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325880"/>
            <a:ext cx="3291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325880"/>
            <a:ext cx="73152" cy="10058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399032"/>
            <a:ext cx="310896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15%–30%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55606E"/>
                </a:solidFill>
                <a:latin typeface="Calibri"/>
              </a:rPr>
              <a:t>Radiologist Inter-Observer Disagreement Rate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325880"/>
            <a:ext cx="338328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07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325880"/>
            <a:ext cx="73152" cy="1005840"/>
          </a:xfrm>
          <a:prstGeom prst="rect">
            <a:avLst/>
          </a:prstGeom>
          <a:solidFill>
            <a:srgbClr val="107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399032"/>
            <a:ext cx="32004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&lt; 1.5 Seconds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55606E"/>
                </a:solidFill>
                <a:latin typeface="Calibri"/>
              </a:rPr>
              <a:t>LungAI Automated Triage &amp; Inference Latency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560320"/>
            <a:ext cx="5120640" cy="3566160"/>
          </a:xfrm>
          <a:prstGeom prst="rect">
            <a:avLst/>
          </a:prstGeom>
          <a:solidFill>
            <a:srgbClr val="F2F6FB"/>
          </a:solidFill>
          <a:ln w="12700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560320"/>
            <a:ext cx="5120640" cy="43891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596896"/>
            <a:ext cx="48463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Clinical Decision Support Vision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063240"/>
            <a:ext cx="475488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Rapid Pre-Screening: </a:t>
            </a:r>
            <a:r>
              <a:rPr sz="1200">
                <a:solidFill>
                  <a:srgbClr val="232A34"/>
                </a:solidFill>
                <a:latin typeface="Calibri"/>
              </a:rPr>
              <a:t>Instantly pre-screen incoming digital radiographs at the moment of digital acquisition.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Dynamic Worklist Triage: </a:t>
            </a:r>
            <a:r>
              <a:rPr sz="1200">
                <a:solidFill>
                  <a:srgbClr val="232A34"/>
                </a:solidFill>
                <a:latin typeface="Calibri"/>
              </a:rPr>
              <a:t>Automatically stratify examinations into Emergency, Urgent, and Routine queues to expedite acute care.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Explainable Visual Verification: </a:t>
            </a:r>
            <a:r>
              <a:rPr sz="1200">
                <a:solidFill>
                  <a:srgbClr val="232A34"/>
                </a:solidFill>
                <a:latin typeface="Calibri"/>
              </a:rPr>
              <a:t>Provide localized Grad-CAM heatmaps so clinicians can visually audit algorithmic focus.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Human-in-the-Loop Protocol: </a:t>
            </a:r>
            <a:r>
              <a:rPr sz="1200">
                <a:solidFill>
                  <a:srgbClr val="232A34"/>
                </a:solidFill>
                <a:latin typeface="Calibri"/>
              </a:rPr>
              <a:t>Serve strictly as an assistive second reader to mitigate errors without replacing certified radiologists.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560320"/>
            <a:ext cx="5212080" cy="3566160"/>
          </a:xfrm>
          <a:prstGeom prst="rect">
            <a:avLst/>
          </a:prstGeom>
          <a:solidFill>
            <a:srgbClr val="F2F6FB"/>
          </a:solidFill>
          <a:ln w="12700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560320"/>
            <a:ext cx="5212080" cy="438912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2596896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Technological Imperative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063240"/>
            <a:ext cx="484632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Beyond Simple Accuracy: </a:t>
            </a:r>
            <a:r>
              <a:rPr sz="1200">
                <a:solidFill>
                  <a:srgbClr val="232A34"/>
                </a:solidFill>
                <a:latin typeface="Calibri"/>
              </a:rPr>
              <a:t>Transition from artificial single-dataset benchmarks to robust cross-source generalization.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Defensive Perimeter: </a:t>
            </a:r>
            <a:r>
              <a:rPr sz="1200">
                <a:solidFill>
                  <a:srgbClr val="232A34"/>
                </a:solidFill>
                <a:latin typeface="Calibri"/>
              </a:rPr>
              <a:t>Intercept non-radiographic uploads via an automated two-stage validation gate.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Auditable Engineering: </a:t>
            </a:r>
            <a:r>
              <a:rPr sz="1200">
                <a:solidFill>
                  <a:srgbClr val="232A34"/>
                </a:solidFill>
                <a:latin typeface="Calibri"/>
              </a:rPr>
              <a:t>Full-stack integration featuring relational persistence, patient entity linking, and automated reporting.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i="1">
                <a:solidFill>
                  <a:srgbClr val="8A99AD"/>
                </a:solidFill>
                <a:latin typeface="Calibri"/>
              </a:rPr>
              <a:t>LungAI M.Tech Dissertation  |  Department of CSE, JNTUH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A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100" b="1">
                <a:solidFill>
                  <a:srgbClr val="48CAE4"/>
                </a:solidFill>
                <a:latin typeface="Calibri"/>
              </a:rPr>
              <a:t>SCIENTIFIC PROBLEM
</a:t>
            </a:r>
            <a:r>
              <a:rPr sz="2400" b="1">
                <a:solidFill>
                  <a:srgbClr val="FFFFFF"/>
                </a:solidFill>
                <a:latin typeface="Calibri"/>
              </a:rPr>
              <a:t>The Research Gap: Shortcut Learning &amp; Domain Shift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5120640" cy="4754880"/>
          </a:xfrm>
          <a:prstGeom prst="rect">
            <a:avLst/>
          </a:prstGeom>
          <a:solidFill>
            <a:srgbClr val="F2F6FB"/>
          </a:solidFill>
          <a:ln w="12700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5120640" cy="438912"/>
          </a:xfrm>
          <a:prstGeom prst="rect">
            <a:avLst/>
          </a:prstGeom>
          <a:solidFill>
            <a:srgbClr val="B0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62456"/>
            <a:ext cx="48463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The Illusion of High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548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Curated Single-Source Bias: </a:t>
            </a:r>
            <a:r>
              <a:rPr sz="1200">
                <a:solidFill>
                  <a:srgbClr val="232A34"/>
                </a:solidFill>
                <a:latin typeface="Calibri"/>
              </a:rPr>
              <a:t>Prior literature frequently reports &gt;95%–99% accuracy on blended or single-center datasets.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Shortcut Learning (Nature MI 2021): </a:t>
            </a:r>
            <a:r>
              <a:rPr sz="1200">
                <a:solidFill>
                  <a:srgbClr val="232A34"/>
                </a:solidFill>
                <a:latin typeface="Calibri"/>
              </a:rPr>
              <a:t>DeGrave et al. proved CNNs exploit lateral hospital markers ('L' vs 'R'), border cropping, and scanner noise rather than pathology.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Severe Source-Label Confounding: </a:t>
            </a:r>
            <a:r>
              <a:rPr sz="1200">
                <a:solidFill>
                  <a:srgbClr val="232A34"/>
                </a:solidFill>
                <a:latin typeface="Calibri"/>
              </a:rPr>
              <a:t>In public multi-source pools, Cramér's V reaches 0.7654—pathologies originate predominantly from specific repositories.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Catastrophic Deployment Drop: </a:t>
            </a:r>
            <a:r>
              <a:rPr sz="1200">
                <a:solidFill>
                  <a:srgbClr val="232A34"/>
                </a:solidFill>
                <a:latin typeface="Calibri"/>
              </a:rPr>
              <a:t>Models trained without frequency awareness suffer severe accuracy drops (&gt;20%) when deployed on external scanners.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25880"/>
            <a:ext cx="5212080" cy="4754880"/>
          </a:xfrm>
          <a:prstGeom prst="rect">
            <a:avLst/>
          </a:prstGeom>
          <a:solidFill>
            <a:srgbClr val="F2F6FB"/>
          </a:solidFill>
          <a:ln w="12700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25880"/>
            <a:ext cx="5212080" cy="43891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362456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The LungAI Investigation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8463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Core Research Question: </a:t>
            </a:r>
            <a:r>
              <a:rPr sz="1200">
                <a:solidFill>
                  <a:srgbClr val="232A34"/>
                </a:solidFill>
                <a:latin typeface="Calibri"/>
              </a:rPr>
              <a:t>"Can a multi-source six-class CXR classifier learn representations that generalize across independent acquisition sources, and can domain generalization improve performance?"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Multi-Paradigm Benchmark: </a:t>
            </a:r>
            <a:r>
              <a:rPr sz="1200">
                <a:solidFill>
                  <a:srgbClr val="232A34"/>
                </a:solidFill>
                <a:latin typeface="Calibri"/>
              </a:rPr>
              <a:t>Controlled comparison of ERM, Deep CORAL, DANN, Frequency Preprocessing, and Hybrid synthesis on identical data.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Biophysical Frequency Analysis: </a:t>
            </a:r>
            <a:r>
              <a:rPr sz="1200">
                <a:solidFill>
                  <a:srgbClr val="232A34"/>
                </a:solidFill>
                <a:latin typeface="Calibri"/>
              </a:rPr>
              <a:t>Filtering high-frequency film digitizer grain (Laplacian variance 1,580 vs 373) in pixel space.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Transparent Failure Disclosure: </a:t>
            </a:r>
            <a:r>
              <a:rPr sz="1200">
                <a:solidFill>
                  <a:srgbClr val="232A34"/>
                </a:solidFill>
                <a:latin typeface="Calibri"/>
              </a:rPr>
              <a:t>Disclosing and analyzing zero-shot external failure on the Montgomery County benchmark.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i="1">
                <a:solidFill>
                  <a:srgbClr val="8A99AD"/>
                </a:solidFill>
                <a:latin typeface="Calibri"/>
              </a:rPr>
              <a:t>LungAI M.Tech Dissertation  |  Department of CSE, JNTUH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A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100" b="1">
                <a:solidFill>
                  <a:srgbClr val="48CAE4"/>
                </a:solidFill>
                <a:latin typeface="Calibri"/>
              </a:rPr>
              <a:t>METHODOLOGICAL GOALS
</a:t>
            </a:r>
            <a:r>
              <a:rPr sz="2400" b="1">
                <a:solidFill>
                  <a:srgbClr val="FFFFFF"/>
                </a:solidFill>
                <a:latin typeface="Calibri"/>
              </a:rPr>
              <a:t>Research Objectives &amp; Project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5120640" cy="4754880"/>
          </a:xfrm>
          <a:prstGeom prst="rect">
            <a:avLst/>
          </a:prstGeom>
          <a:solidFill>
            <a:srgbClr val="F2F6FB"/>
          </a:solidFill>
          <a:ln w="12700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5120640" cy="43891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62456"/>
            <a:ext cx="48463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Specific Research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548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1. Dataset Forensics: </a:t>
            </a:r>
            <a:r>
              <a:rPr sz="1200">
                <a:solidFill>
                  <a:srgbClr val="232A34"/>
                </a:solidFill>
                <a:latin typeface="Calibri"/>
              </a:rPr>
              <a:t>Purge cross-modality contamination (692 CT slices) and eliminate patient identity leakage across 8 sources.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2. V5 Dataset Construction: </a:t>
            </a:r>
            <a:r>
              <a:rPr sz="1200">
                <a:solidFill>
                  <a:srgbClr val="232A34"/>
                </a:solidFill>
                <a:latin typeface="Calibri"/>
              </a:rPr>
              <a:t>Establish canonical V5 cohort: 10,547 images from 10,270 unique patients (0% patient leakage).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3. Domain Generalization Study: </a:t>
            </a:r>
            <a:r>
              <a:rPr sz="1200">
                <a:solidFill>
                  <a:srgbClr val="232A34"/>
                </a:solidFill>
                <a:latin typeface="Calibri"/>
              </a:rPr>
              <a:t>Empirically evaluate 5 learning paradigms (ERM, CORAL, DANN, Frequency, Hybrid) under identical DenseNet-121 backbone.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4. External Failure Audit: </a:t>
            </a:r>
            <a:r>
              <a:rPr sz="1200">
                <a:solidFill>
                  <a:srgbClr val="232A34"/>
                </a:solidFill>
                <a:latin typeface="Calibri"/>
              </a:rPr>
              <a:t>Deploy zero-shot on quarantined Montgomery cohort (N=138) to analyze digitizer sensor shift boundaries.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5. Defensive CXR Validation Gate: </a:t>
            </a:r>
            <a:r>
              <a:rPr sz="1200">
                <a:solidFill>
                  <a:srgbClr val="232A34"/>
                </a:solidFill>
                <a:latin typeface="Calibri"/>
              </a:rPr>
              <a:t>Implement two-stage gate (Stage 1 biophysical + Stage 2 semantic at tau=0.83) to intercept non-CXR inputs.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6. Full-Stack Clinical Platform: </a:t>
            </a:r>
            <a:r>
              <a:rPr sz="1200">
                <a:solidFill>
                  <a:srgbClr val="232A34"/>
                </a:solidFill>
                <a:latin typeface="Calibri"/>
              </a:rPr>
              <a:t>Deploy asynchronous FastAPI ASGI backend + React 18 frontend with deterministic urgency triage.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25880"/>
            <a:ext cx="5212080" cy="4754880"/>
          </a:xfrm>
          <a:prstGeom prst="rect">
            <a:avLst/>
          </a:prstGeom>
          <a:solidFill>
            <a:srgbClr val="F2F6FB"/>
          </a:solidFill>
          <a:ln w="12700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25880"/>
            <a:ext cx="5212080" cy="438912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362456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Defined Project Scope &amp; Boundaries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84632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6 Active Radiographic Classes: </a:t>
            </a:r>
            <a:r>
              <a:rPr sz="1200">
                <a:solidFill>
                  <a:srgbClr val="232A34"/>
                </a:solidFill>
                <a:latin typeface="Calibri"/>
              </a:rPr>
              <a:t>COVID-19, Normal, Pleural Effusion, Pneumonia, Pulmonary Nodule / Mass, and Tuberculosis.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Nodule / Mass Designation: </a:t>
            </a:r>
            <a:r>
              <a:rPr sz="1200">
                <a:solidFill>
                  <a:srgbClr val="232A34"/>
                </a:solidFill>
                <a:latin typeface="Calibri"/>
              </a:rPr>
              <a:t>Formally designated as 'Pulmonary Nodule / Mass' rather than 'Lung Cancer' (radiographic findings vs. histological biopsy).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Planar CXR Focus: </a:t>
            </a:r>
            <a:r>
              <a:rPr sz="1200">
                <a:solidFill>
                  <a:srgbClr val="232A34"/>
                </a:solidFill>
                <a:latin typeface="Calibri"/>
              </a:rPr>
              <a:t>Operates exclusively on planar frontal (PA/AP) chest radiographs; lateral views reserved for future extension.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Academic Decision Support: </a:t>
            </a:r>
            <a:r>
              <a:rPr sz="1200">
                <a:solidFill>
                  <a:srgbClr val="232A34"/>
                </a:solidFill>
                <a:latin typeface="Calibri"/>
              </a:rPr>
              <a:t>Engineered as an auditable research prototype; does not claim autonomous clinical diagnostic clearance.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Mandatory Human-in-the-Loop: </a:t>
            </a:r>
            <a:r>
              <a:rPr sz="1200">
                <a:solidFill>
                  <a:srgbClr val="232A34"/>
                </a:solidFill>
                <a:latin typeface="Calibri"/>
              </a:rPr>
              <a:t>All predictions require independent verification by licensed medical practitioners.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i="1">
                <a:solidFill>
                  <a:srgbClr val="8A99AD"/>
                </a:solidFill>
                <a:latin typeface="Calibri"/>
              </a:rPr>
              <a:t>LungAI M.Tech Dissertation  |  Department of CSE, JNTUH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A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100" b="1">
                <a:solidFill>
                  <a:srgbClr val="48CAE4"/>
                </a:solidFill>
                <a:latin typeface="Calibri"/>
              </a:rPr>
              <a:t>PUBLISHED EVIDENCE
</a:t>
            </a:r>
            <a:r>
              <a:rPr sz="2400" b="1">
                <a:solidFill>
                  <a:srgbClr val="FFFFFF"/>
                </a:solidFill>
                <a:latin typeface="Calibri"/>
              </a:rPr>
              <a:t>Literature Survey &amp; Methodological Positioning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6984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Rajpurkar et al. (CheXNet, 2017): </a:t>
            </a:r>
            <a:r>
              <a:rPr sz="1200">
                <a:solidFill>
                  <a:srgbClr val="232A34"/>
                </a:solidFill>
                <a:latin typeface="Calibri"/>
              </a:rPr>
              <a:t>DenseNet-121 on NIH ChestX-ray14 (112k scans). Proved DenseNet feature reuse; single-center NLP label noise.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Fernando et al. (IEEE ICARC 2022): </a:t>
            </a:r>
            <a:r>
              <a:rPr sz="1200">
                <a:solidFill>
                  <a:srgbClr val="232A34"/>
                </a:solidFill>
                <a:latin typeface="Calibri"/>
              </a:rPr>
              <a:t>ResNet50 / MobileNetV2 on 3 classes (Normal, Pneumonia, COVID). Reported 98.87% acc on simple pooled Kaggle data without domain evaluation.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Mahesh &amp; Kumar (IEEE TEECCON 2023): </a:t>
            </a:r>
            <a:r>
              <a:rPr sz="1200">
                <a:solidFill>
                  <a:srgbClr val="232A34"/>
                </a:solidFill>
                <a:latin typeface="Calibri"/>
              </a:rPr>
              <a:t>DenseNet121 vs ResNet50 on 4-class Kaggle data. Demonstrated checkpointing and learning rate decay importance.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Charan et al. (IEEE Access 2024): </a:t>
            </a:r>
            <a:r>
              <a:rPr sz="1200">
                <a:solidFill>
                  <a:srgbClr val="232A34"/>
                </a:solidFill>
                <a:latin typeface="Calibri"/>
              </a:rPr>
              <a:t>ResNet50 (97.1%) &amp; EfficientNet (96.3%) with LBP texture features on fused data without controlling for source confounding.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Dagnaw &amp; El Mouthadi (ICT4DA 2023): </a:t>
            </a:r>
            <a:r>
              <a:rPr sz="1200">
                <a:solidFill>
                  <a:srgbClr val="232A34"/>
                </a:solidFill>
                <a:latin typeface="Calibri"/>
              </a:rPr>
              <a:t>Lightweight CNN with CLAHE and Score-CAM explainability for pneumonia and tuberculosis.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Deva &amp; Dagur (IEEE Access 2025): </a:t>
            </a:r>
            <a:r>
              <a:rPr sz="1200">
                <a:solidFill>
                  <a:srgbClr val="232A34"/>
                </a:solidFill>
                <a:latin typeface="Calibri"/>
              </a:rPr>
              <a:t>ViT-ResNet hybrid framework (98.54% internal acc); observed 4.47% accuracy drop on external cross-dataset evaluation.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Akyol &amp; Bilgin (IEEE UBMK 2025): </a:t>
            </a:r>
            <a:r>
              <a:rPr sz="1200">
                <a:solidFill>
                  <a:srgbClr val="232A34"/>
                </a:solidFill>
                <a:latin typeface="Calibri"/>
              </a:rPr>
              <a:t>Hybrid CNN-Transformer DANN for robust pneumonia classification across heterogeneous CXR datasets.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LungAI Model D (This Thesis, 2026): </a:t>
            </a:r>
            <a:r>
              <a:rPr sz="1200">
                <a:solidFill>
                  <a:srgbClr val="232A34"/>
                </a:solidFill>
                <a:latin typeface="Calibri"/>
              </a:rPr>
              <a:t>DenseNet-121 + Gaussian LP (sigma=1.0) on leak-free 6-class V5 cohort (10,547 scans). 82.93% acc, 78.35% F1, 0.9755 ROC-AUC; complete external failure analysis.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i="1">
                <a:solidFill>
                  <a:srgbClr val="8A99AD"/>
                </a:solidFill>
                <a:latin typeface="Calibri"/>
              </a:rPr>
              <a:t>*Note: Reported metrics are not directly comparable due to divergent datasets, classes, and protocols.*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A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100" b="1">
                <a:solidFill>
                  <a:srgbClr val="48CAE4"/>
                </a:solidFill>
                <a:latin typeface="Calibri"/>
              </a:rPr>
              <a:t>SYSTEM DESIGN
</a:t>
            </a:r>
            <a:r>
              <a:rPr sz="2400" b="1">
                <a:solidFill>
                  <a:srgbClr val="FFFFFF"/>
                </a:solidFill>
                <a:latin typeface="Calibri"/>
              </a:rPr>
              <a:t>Proposed System Architecture &amp; Topology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3383280" cy="4663440"/>
          </a:xfrm>
          <a:prstGeom prst="rect">
            <a:avLst/>
          </a:prstGeom>
          <a:solidFill>
            <a:srgbClr val="F2F6FB"/>
          </a:solidFill>
          <a:ln w="12700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3383280" cy="438912"/>
          </a:xfrm>
          <a:prstGeom prst="rect">
            <a:avLst/>
          </a:prstGeom>
          <a:solidFill>
            <a:srgbClr val="48C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62456"/>
            <a:ext cx="31089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Presentation Tier (React 18)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30175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Modern SPA: </a:t>
            </a:r>
            <a:r>
              <a:rPr sz="1200">
                <a:solidFill>
                  <a:srgbClr val="232A34"/>
                </a:solidFill>
                <a:latin typeface="Calibri"/>
              </a:rPr>
              <a:t>Built with React 18, Vite, and custom CSS design tokens (no CSS bloat).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Diagnostic Viewport: </a:t>
            </a:r>
            <a:r>
              <a:rPr sz="1200">
                <a:solidFill>
                  <a:srgbClr val="232A34"/>
                </a:solidFill>
                <a:latin typeface="Calibri"/>
              </a:rPr>
              <a:t>Interactive DICOM-style canvas windowing: pan, zoom, contrast, and brightness.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Real-Time Explainability: </a:t>
            </a:r>
            <a:r>
              <a:rPr sz="1200">
                <a:solidFill>
                  <a:srgbClr val="232A34"/>
                </a:solidFill>
                <a:latin typeface="Calibri"/>
              </a:rPr>
              <a:t>Dynamic Grad-CAM overlay slider with side-by-side inspection.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Clinical Dashboards: </a:t>
            </a:r>
            <a:r>
              <a:rPr sz="1200">
                <a:solidFill>
                  <a:srgbClr val="232A34"/>
                </a:solidFill>
                <a:latin typeface="Calibri"/>
              </a:rPr>
              <a:t>Patient management, scan history audit log, and scientific metrics view.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325880"/>
            <a:ext cx="3383280" cy="4663440"/>
          </a:xfrm>
          <a:prstGeom prst="rect">
            <a:avLst/>
          </a:prstGeom>
          <a:solidFill>
            <a:srgbClr val="F2F6FB"/>
          </a:solidFill>
          <a:ln w="12700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25880"/>
            <a:ext cx="3383280" cy="43891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362456"/>
            <a:ext cx="31089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Service Tier (FastAPI REST)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828800"/>
            <a:ext cx="30175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Asynchronous ASGI: </a:t>
            </a:r>
            <a:r>
              <a:rPr sz="1200">
                <a:solidFill>
                  <a:srgbClr val="232A34"/>
                </a:solidFill>
                <a:latin typeface="Calibri"/>
              </a:rPr>
              <a:t>High-throughput asynchronous event loop under Uvicorn.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Two-Stage CXR Gate: </a:t>
            </a:r>
            <a:r>
              <a:rPr sz="1200">
                <a:solidFill>
                  <a:srgbClr val="232A34"/>
                </a:solidFill>
                <a:latin typeface="Calibri"/>
              </a:rPr>
              <a:t>Stage 1 biophysical filtering + Stage 2 semantic classifier at tau=0.83.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Singleton Inference: </a:t>
            </a:r>
            <a:r>
              <a:rPr sz="1200">
                <a:solidFill>
                  <a:srgbClr val="232A34"/>
                </a:solidFill>
                <a:latin typeface="Calibri"/>
              </a:rPr>
              <a:t>Pre-warmed Model D engine in GPU memory (&lt;120 ms latency).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Urgency Stratification: </a:t>
            </a:r>
            <a:r>
              <a:rPr sz="1200">
                <a:solidFill>
                  <a:srgbClr val="232A34"/>
                </a:solidFill>
                <a:latin typeface="Calibri"/>
              </a:rPr>
              <a:t>Deterministic clinical triage mapping: Emergency, Urgent, Routine.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325880"/>
            <a:ext cx="3383280" cy="4663440"/>
          </a:xfrm>
          <a:prstGeom prst="rect">
            <a:avLst/>
          </a:prstGeom>
          <a:solidFill>
            <a:srgbClr val="F2F6FB"/>
          </a:solidFill>
          <a:ln w="12700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325880"/>
            <a:ext cx="3383280" cy="438912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1362456"/>
            <a:ext cx="31089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Persistence Tier (SQLAlchemy)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828800"/>
            <a:ext cx="30175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Relational 3NF Schema: </a:t>
            </a:r>
            <a:r>
              <a:rPr sz="1200">
                <a:solidFill>
                  <a:srgbClr val="232A34"/>
                </a:solidFill>
                <a:latin typeface="Calibri"/>
              </a:rPr>
              <a:t>Normalized tables: Patients, Scans, Predictions, and Reports.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Cryptographic Integrity: </a:t>
            </a:r>
            <a:r>
              <a:rPr sz="1200">
                <a:solidFill>
                  <a:srgbClr val="232A34"/>
                </a:solidFill>
                <a:latin typeface="Calibri"/>
              </a:rPr>
              <a:t>SHA-256 image byte hashing prevents scan tampering.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Privacy-Conscious: </a:t>
            </a:r>
            <a:r>
              <a:rPr sz="1200">
                <a:solidFill>
                  <a:srgbClr val="232A34"/>
                </a:solidFill>
                <a:latin typeface="Calibri"/>
              </a:rPr>
              <a:t>UUIDv4 identifiers; DICOM header sanitization.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Auditability: </a:t>
            </a:r>
            <a:r>
              <a:rPr sz="1200">
                <a:solidFill>
                  <a:srgbClr val="232A34"/>
                </a:solidFill>
                <a:latin typeface="Calibri"/>
              </a:rPr>
              <a:t>Complete execution time, probability simplex, and timestamp logging.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i="1">
                <a:solidFill>
                  <a:srgbClr val="8A99AD"/>
                </a:solidFill>
                <a:latin typeface="Calibri"/>
              </a:rPr>
              <a:t>LungAI M.Tech Dissertation  |  Department of CSE, JNTUH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A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100" b="1">
                <a:solidFill>
                  <a:srgbClr val="48CAE4"/>
                </a:solidFill>
                <a:latin typeface="Calibri"/>
              </a:rPr>
              <a:t>DATA FORENSICS
</a:t>
            </a:r>
            <a:r>
              <a:rPr sz="2400" b="1">
                <a:solidFill>
                  <a:srgbClr val="FFFFFF"/>
                </a:solidFill>
                <a:latin typeface="Calibri"/>
              </a:rPr>
              <a:t>Dataset Forensic Reconstruction: V1 to V5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3291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B0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73152" cy="1005840"/>
          </a:xfrm>
          <a:prstGeom prst="rect">
            <a:avLst/>
          </a:prstGeom>
          <a:solidFill>
            <a:srgbClr val="B0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99032"/>
            <a:ext cx="310896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692 Slices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55606E"/>
                </a:solidFill>
                <a:latin typeface="Calibri"/>
              </a:rPr>
              <a:t>Cross-Modality CT Slices Disclosed &amp; Purged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325880"/>
            <a:ext cx="3291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325880"/>
            <a:ext cx="73152" cy="10058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399032"/>
            <a:ext cx="310896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1,257 Scans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55606E"/>
                </a:solidFill>
                <a:latin typeface="Calibri"/>
              </a:rPr>
              <a:t>Exact &amp; Perceptual Duplicates Removed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325880"/>
            <a:ext cx="338328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07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325880"/>
            <a:ext cx="73152" cy="1005840"/>
          </a:xfrm>
          <a:prstGeom prst="rect">
            <a:avLst/>
          </a:prstGeom>
          <a:solidFill>
            <a:srgbClr val="107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399032"/>
            <a:ext cx="32004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0.0% Leakage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55606E"/>
                </a:solidFill>
                <a:latin typeface="Calibri"/>
              </a:rPr>
              <a:t>Strict Patient-Level Partitioning Enforced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560320"/>
            <a:ext cx="10698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560320"/>
            <a:ext cx="10698480" cy="43891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596896"/>
            <a:ext cx="104241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Forensic Milestones Across Iterations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063240"/>
            <a:ext cx="1033272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V1 (13,102 Scans): </a:t>
            </a:r>
            <a:r>
              <a:rPr sz="1200">
                <a:solidFill>
                  <a:srgbClr val="232A34"/>
                </a:solidFill>
                <a:latin typeface="Calibri"/>
              </a:rPr>
              <a:t>Uncovered 692 axial CT slices in 'Lung Cancer' class and severe patient identity overlap across Kaggle folders.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V2 (11,845 Scans): </a:t>
            </a:r>
            <a:r>
              <a:rPr sz="1200">
                <a:solidFill>
                  <a:srgbClr val="232A34"/>
                </a:solidFill>
                <a:latin typeface="Calibri"/>
              </a:rPr>
              <a:t>Purged 1,257 duplicate image files via SHA-256 hashing; standardized image naming conventions.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V3 (12,410 Scans): </a:t>
            </a:r>
            <a:r>
              <a:rPr sz="1200">
                <a:solidFill>
                  <a:srgbClr val="232A34"/>
                </a:solidFill>
                <a:latin typeface="Calibri"/>
              </a:rPr>
              <a:t>Purged 100 benign solitary nodules from JSRT; integrated high-resolution TBX11K tuberculosis cohort.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V4 (10,864 Scans): </a:t>
            </a:r>
            <a:r>
              <a:rPr sz="1200">
                <a:solidFill>
                  <a:srgbClr val="232A34"/>
                </a:solidFill>
                <a:latin typeface="Calibri"/>
              </a:rPr>
              <a:t>Completely eliminated all cross-modality CT slices; finalized planar CXR scope.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V5 Canonical Benchmark: </a:t>
            </a:r>
            <a:r>
              <a:rPr sz="1200">
                <a:solidFill>
                  <a:srgbClr val="232A34"/>
                </a:solidFill>
                <a:latin typeface="Calibri"/>
              </a:rPr>
              <a:t>10,547 scans from 10,270 unique patients across 8 repositories. Renamed class to 'Pulmonary Nodule / Mass'. Enforced strict patient-level split (0% leakage). Quarantined Montgomery benchmark (N=138).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i="1">
                <a:solidFill>
                  <a:srgbClr val="8A99AD"/>
                </a:solidFill>
                <a:latin typeface="Calibri"/>
              </a:rPr>
              <a:t>LungAI M.Tech Dissertation  |  Department of CSE, JNTUH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A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100" b="1">
                <a:solidFill>
                  <a:srgbClr val="48CAE4"/>
                </a:solidFill>
                <a:latin typeface="Calibri"/>
              </a:rPr>
              <a:t>DATASET SPECIFICATION
</a:t>
            </a:r>
            <a:r>
              <a:rPr sz="2400" b="1">
                <a:solidFill>
                  <a:srgbClr val="FFFFFF"/>
                </a:solidFill>
                <a:latin typeface="Calibri"/>
              </a:rPr>
              <a:t>Canonical V5 Dataset: Multi-Source Composition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5120640" cy="4663440"/>
          </a:xfrm>
          <a:prstGeom prst="rect">
            <a:avLst/>
          </a:prstGeom>
          <a:solidFill>
            <a:srgbClr val="F2F6FB"/>
          </a:solidFill>
          <a:ln w="12700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5120640" cy="43891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62456"/>
            <a:ext cx="48463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Diagnostic Class Distribution (N=10,547)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548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Pneumonia: </a:t>
            </a:r>
            <a:r>
              <a:rPr sz="1200">
                <a:solidFill>
                  <a:srgbClr val="232A34"/>
                </a:solidFill>
                <a:latin typeface="Calibri"/>
              </a:rPr>
              <a:t>2,805 scans (26.60%) — lobar, bronchial, and interstitial consolidations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Normal: </a:t>
            </a:r>
            <a:r>
              <a:rPr sz="1200">
                <a:solidFill>
                  <a:srgbClr val="232A34"/>
                </a:solidFill>
                <a:latin typeface="Calibri"/>
              </a:rPr>
              <a:t>2,636 scans (24.99%) — verified healthy controls without active infiltrates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COVID-19: </a:t>
            </a:r>
            <a:r>
              <a:rPr sz="1200">
                <a:solidFill>
                  <a:srgbClr val="232A34"/>
                </a:solidFill>
                <a:latin typeface="Calibri"/>
              </a:rPr>
              <a:t>1,942 scans (18.41%) — bilateral, peripheral ground-glass opacities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Tuberculosis: </a:t>
            </a:r>
            <a:r>
              <a:rPr sz="1200">
                <a:solidFill>
                  <a:srgbClr val="232A34"/>
                </a:solidFill>
                <a:latin typeface="Calibri"/>
              </a:rPr>
              <a:t>1,348 scans (12.78%) — apical fibro-cavitary lesions and infiltrates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Pleural Effusion: </a:t>
            </a:r>
            <a:r>
              <a:rPr sz="1200">
                <a:solidFill>
                  <a:srgbClr val="232A34"/>
                </a:solidFill>
                <a:latin typeface="Calibri"/>
              </a:rPr>
              <a:t>1,062 scans (10.07%) — costophrenic angle blunting and fluid meniscus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Pulmonary Nodule / Mass: </a:t>
            </a:r>
            <a:r>
              <a:rPr sz="1200">
                <a:solidFill>
                  <a:srgbClr val="232A34"/>
                </a:solidFill>
                <a:latin typeface="Calibri"/>
              </a:rPr>
              <a:t>754 scans (7.15%) — discrete radiopaque parenchymal lesions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25880"/>
            <a:ext cx="5212080" cy="4663440"/>
          </a:xfrm>
          <a:prstGeom prst="rect">
            <a:avLst/>
          </a:prstGeom>
          <a:solidFill>
            <a:srgbClr val="F2F6FB"/>
          </a:solidFill>
          <a:ln w="12700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25880"/>
            <a:ext cx="5212080" cy="43891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362456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Multi-Source Harmonization &amp; Splitting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8 International Sources: </a:t>
            </a:r>
            <a:r>
              <a:rPr sz="1200">
                <a:solidFill>
                  <a:srgbClr val="232A34"/>
                </a:solidFill>
                <a:latin typeface="Calibri"/>
              </a:rPr>
              <a:t>TBX11K (3,277), Existing COVID (1,942), VinDr-CXR (1,467), Existing Pneumonia (1,395), Existing Normal (1,199), Existing TB (665), NIH (457), JSRT (145).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Patient-Strict Train Split: </a:t>
            </a:r>
            <a:r>
              <a:rPr sz="1200">
                <a:solidFill>
                  <a:srgbClr val="232A34"/>
                </a:solidFill>
                <a:latin typeface="Calibri"/>
              </a:rPr>
              <a:t>7,398 scans / 7,189 patients (70.14%) — 0% patient leakage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Patient-Strict Validation: </a:t>
            </a:r>
            <a:r>
              <a:rPr sz="1200">
                <a:solidFill>
                  <a:srgbClr val="232A34"/>
                </a:solidFill>
                <a:latin typeface="Calibri"/>
              </a:rPr>
              <a:t>1,579 scans / 1,540 patients (14.97%) — 0% patient leakage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Patient-Strict Test Split: </a:t>
            </a:r>
            <a:r>
              <a:rPr sz="1200">
                <a:solidFill>
                  <a:srgbClr val="232A34"/>
                </a:solidFill>
                <a:latin typeface="Calibri"/>
              </a:rPr>
              <a:t>1,570 scans / 1,541 patients (14.89%) — 0% patient leakage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Source Confounding: </a:t>
            </a:r>
            <a:r>
              <a:rPr sz="1200">
                <a:solidFill>
                  <a:srgbClr val="232A34"/>
                </a:solidFill>
                <a:latin typeface="Calibri"/>
              </a:rPr>
              <a:t>Cramér's V = 0.7654 (severe association between source and pathology, proving shortcut risk).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i="1">
                <a:solidFill>
                  <a:srgbClr val="8A99AD"/>
                </a:solidFill>
                <a:latin typeface="Calibri"/>
              </a:rPr>
              <a:t>LungAI M.Tech Dissertation  |  Department of CSE, JNTUH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A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100" b="1">
                <a:solidFill>
                  <a:srgbClr val="48CAE4"/>
                </a:solidFill>
                <a:latin typeface="Calibri"/>
              </a:rPr>
              <a:t>AI MODEL SPECIFICATION
</a:t>
            </a:r>
            <a:r>
              <a:rPr sz="2400" b="1">
                <a:solidFill>
                  <a:srgbClr val="FFFFFF"/>
                </a:solidFill>
                <a:latin typeface="Calibri"/>
              </a:rPr>
              <a:t>Model D Architecture &amp; Biophysical Preprocessing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5120640" cy="4663440"/>
          </a:xfrm>
          <a:prstGeom prst="rect">
            <a:avLst/>
          </a:prstGeom>
          <a:solidFill>
            <a:srgbClr val="F2F6FB"/>
          </a:solidFill>
          <a:ln w="12700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5120640" cy="438912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62456"/>
            <a:ext cx="48463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Deterministic Preprocessing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548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1. Decoupling: </a:t>
            </a:r>
            <a:r>
              <a:rPr sz="1200">
                <a:solidFill>
                  <a:srgbClr val="232A34"/>
                </a:solidFill>
                <a:latin typeface="Calibri"/>
              </a:rPr>
              <a:t>BGR to CIE LAB color space; isolates luminance (L) from chrominance.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2. Contrast Equalization: </a:t>
            </a:r>
            <a:r>
              <a:rPr sz="1200">
                <a:solidFill>
                  <a:srgbClr val="232A34"/>
                </a:solidFill>
                <a:latin typeface="Calibri"/>
              </a:rPr>
              <a:t>CLAHE on L channel (clip limit 2.0, 8x8 grid) sharpens subtle opacities without color artifacts.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3. Gaussian Low-Pass Filter: </a:t>
            </a:r>
            <a:r>
              <a:rPr sz="1200">
                <a:solidFill>
                  <a:srgbClr val="232A34"/>
                </a:solidFill>
                <a:latin typeface="Calibri"/>
              </a:rPr>
              <a:t>Spatial filtering (sigma = 1.0, 3x3 kernel) attenuates high-frequency scanner noise and digitizer grain shortcuts.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4. High-Order Resampling: </a:t>
            </a:r>
            <a:r>
              <a:rPr sz="1200">
                <a:solidFill>
                  <a:srgbClr val="232A34"/>
                </a:solidFill>
                <a:latin typeface="Calibri"/>
              </a:rPr>
              <a:t>Lanczos-4 spatial interpolation to standardized 224x224 pixels.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5. Normalization: </a:t>
            </a:r>
            <a:r>
              <a:rPr sz="1200">
                <a:solidFill>
                  <a:srgbClr val="232A34"/>
                </a:solidFill>
                <a:latin typeface="Calibri"/>
              </a:rPr>
              <a:t>Channel-wise ImageNet standardization (mean=[0.485, 0.456, 0.406], std=[0.229, 0.224, 0.225]).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25880"/>
            <a:ext cx="5212080" cy="4663440"/>
          </a:xfrm>
          <a:prstGeom prst="rect">
            <a:avLst/>
          </a:prstGeom>
          <a:solidFill>
            <a:srgbClr val="F2F6FB"/>
          </a:solidFill>
          <a:ln w="12700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25880"/>
            <a:ext cx="5212080" cy="43891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362456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DenseNet-121 + Bottleneck Topology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Dense Feature Reuse: </a:t>
            </a:r>
            <a:r>
              <a:rPr sz="1200">
                <a:solidFill>
                  <a:srgbClr val="232A34"/>
                </a:solidFill>
                <a:latin typeface="Calibri"/>
              </a:rPr>
              <a:t>121 layers across 4 dense blocks; growth rate k=32; 7.04M base params.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Target Layer: </a:t>
            </a:r>
            <a:r>
              <a:rPr sz="1200">
                <a:solidFill>
                  <a:srgbClr val="232A34"/>
                </a:solidFill>
                <a:latin typeface="Calibri"/>
              </a:rPr>
              <a:t>Layer `conv5_block16_concat` (1,024 channels) targeted for Grad-CAM.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Global Average Pooling: </a:t>
            </a:r>
            <a:r>
              <a:rPr sz="1200">
                <a:solidFill>
                  <a:srgbClr val="232A34"/>
                </a:solidFill>
                <a:latin typeface="Calibri"/>
              </a:rPr>
              <a:t>Reduces 7x7 spatial maps to 1,024-dimensional feature vector.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Batch Normalization: </a:t>
            </a:r>
            <a:r>
              <a:rPr sz="1200">
                <a:solidFill>
                  <a:srgbClr val="232A34"/>
                </a:solidFill>
                <a:latin typeface="Calibri"/>
              </a:rPr>
              <a:t>Normalizes latent feature activations; stabilizes multi-source training.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Dense Projection Head: </a:t>
            </a:r>
            <a:r>
              <a:rPr sz="1200">
                <a:solidFill>
                  <a:srgbClr val="232A34"/>
                </a:solidFill>
                <a:latin typeface="Calibri"/>
              </a:rPr>
              <a:t>Dense(256, ReLU) bottleneck establishing compact latent manifold.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Regularization &amp; Output: </a:t>
            </a:r>
            <a:r>
              <a:rPr sz="1200">
                <a:solidFill>
                  <a:srgbClr val="232A34"/>
                </a:solidFill>
                <a:latin typeface="Calibri"/>
              </a:rPr>
              <a:t>Dropout(0.3) + Dense(6, Softmax) outputting probability simplex.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i="1">
                <a:solidFill>
                  <a:srgbClr val="8A99AD"/>
                </a:solidFill>
                <a:latin typeface="Calibri"/>
              </a:rPr>
              <a:t>Total Parameters: 7,305,542  |  File Size: 28.71 MB  |  Inference Latency: &lt;120 ms (GPU)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A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100" b="1">
                <a:solidFill>
                  <a:srgbClr val="48CAE4"/>
                </a:solidFill>
                <a:latin typeface="Calibri"/>
              </a:rPr>
              <a:t>RESEARCH METHODOLOGY
</a:t>
            </a:r>
            <a:r>
              <a:rPr sz="2400" b="1">
                <a:solidFill>
                  <a:srgbClr val="FFFFFF"/>
                </a:solidFill>
                <a:latin typeface="Calibri"/>
              </a:rPr>
              <a:t>Experimental Protocol: Controlled 5-Paradigm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5120640" cy="4663440"/>
          </a:xfrm>
          <a:prstGeom prst="rect">
            <a:avLst/>
          </a:prstGeom>
          <a:solidFill>
            <a:srgbClr val="F2F6FB"/>
          </a:solidFill>
          <a:ln w="12700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5120640" cy="43891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62456"/>
            <a:ext cx="48463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Controlled Experimental Conditions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548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Identical Cohort: </a:t>
            </a:r>
            <a:r>
              <a:rPr sz="1200">
                <a:solidFill>
                  <a:srgbClr val="232A34"/>
                </a:solidFill>
                <a:latin typeface="Calibri"/>
              </a:rPr>
              <a:t>All paradigms trained on identical V5 training split (7,398 scans) and evaluated on identical test split (1,570 scans).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Identical Backbone: </a:t>
            </a:r>
            <a:r>
              <a:rPr sz="1200">
                <a:solidFill>
                  <a:srgbClr val="232A34"/>
                </a:solidFill>
                <a:latin typeface="Calibri"/>
              </a:rPr>
              <a:t>DenseNet-121 ImageNet-initialized weights used across all 5 models.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Identical Latent Space: </a:t>
            </a:r>
            <a:r>
              <a:rPr sz="1200">
                <a:solidFill>
                  <a:srgbClr val="232A34"/>
                </a:solidFill>
                <a:latin typeface="Calibri"/>
              </a:rPr>
              <a:t>256-dimensional dense bottleneck projection with Batch Normalization.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Inverse-Frequency Weights: </a:t>
            </a:r>
            <a:r>
              <a:rPr sz="1200">
                <a:solidFill>
                  <a:srgbClr val="232A34"/>
                </a:solidFill>
                <a:latin typeface="Calibri"/>
              </a:rPr>
              <a:t>Cost-sensitive loss weighting applied across all models to handle class imbalance.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Strict Random Seed: </a:t>
            </a:r>
            <a:r>
              <a:rPr sz="1200">
                <a:solidFill>
                  <a:srgbClr val="232A34"/>
                </a:solidFill>
                <a:latin typeface="Calibri"/>
              </a:rPr>
              <a:t>Seed 42 enforced across Python, NumPy, and TensorFlow.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2-Phase Training Schedule: </a:t>
            </a:r>
            <a:r>
              <a:rPr sz="1200">
                <a:solidFill>
                  <a:srgbClr val="232A34"/>
                </a:solidFill>
                <a:latin typeface="Calibri"/>
              </a:rPr>
              <a:t>Phase 1: 2 epochs base frozen (lr=1e-3); Phase 2: 2 epochs top 30 layers fine-tuned (lr=1e-5).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25880"/>
            <a:ext cx="5212080" cy="4663440"/>
          </a:xfrm>
          <a:prstGeom prst="rect">
            <a:avLst/>
          </a:prstGeom>
          <a:solidFill>
            <a:srgbClr val="F2F6FB"/>
          </a:solidFill>
          <a:ln w="12700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25880"/>
            <a:ext cx="5212080" cy="438912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362456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The 5 Evaluated Paradigms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Phase 3B: ERM Baseline: </a:t>
            </a:r>
            <a:r>
              <a:rPr sz="1200">
                <a:solidFill>
                  <a:srgbClr val="232A34"/>
                </a:solidFill>
                <a:latin typeface="Calibri"/>
              </a:rPr>
              <a:t>Standard Empirical Risk Minimization with weighted cross-entropy.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Phase 4B: Deep CORAL: </a:t>
            </a:r>
            <a:r>
              <a:rPr sz="1200">
                <a:solidFill>
                  <a:srgbClr val="232A34"/>
                </a:solidFill>
                <a:latin typeface="Calibri"/>
              </a:rPr>
              <a:t>Minimizes Frobenius norm distance between source second-order feature covariances (weight lambda=0.5).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Phase 4C: DANN Adversarial: </a:t>
            </a:r>
            <a:r>
              <a:rPr sz="1200">
                <a:solidFill>
                  <a:srgbClr val="232A34"/>
                </a:solidFill>
                <a:latin typeface="Calibri"/>
              </a:rPr>
              <a:t>Domain-Adversarial Neural Network with Gradient Reversal Layer.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Phase 4D: Frequency-Aware: </a:t>
            </a:r>
            <a:r>
              <a:rPr sz="1200">
                <a:solidFill>
                  <a:srgbClr val="232A34"/>
                </a:solidFill>
                <a:latin typeface="Calibri"/>
              </a:rPr>
              <a:t>Gaussian spatial low-pass filtering (sigma=1.0) directly in input space (Model D).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Phase 4E: Hybrid Synthesis: </a:t>
            </a:r>
            <a:r>
              <a:rPr sz="1200">
                <a:solidFill>
                  <a:srgbClr val="232A34"/>
                </a:solidFill>
                <a:latin typeface="Calibri"/>
              </a:rPr>
              <a:t>Combines Gaussian spatial low-pass filtering with Deep CORAL covariance alignment.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i="1">
                <a:solidFill>
                  <a:srgbClr val="8A99AD"/>
                </a:solidFill>
                <a:latin typeface="Calibri"/>
              </a:rPr>
              <a:t>LungAI M.Tech Dissertation  |  Department of CSE, JNTUH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A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100" b="1">
                <a:solidFill>
                  <a:srgbClr val="48CAE4"/>
                </a:solidFill>
                <a:latin typeface="Calibri"/>
              </a:rPr>
              <a:t>EMPIRICAL RESULTS
</a:t>
            </a:r>
            <a:r>
              <a:rPr sz="2400" b="1">
                <a:solidFill>
                  <a:srgbClr val="FFFFFF"/>
                </a:solidFill>
                <a:latin typeface="Calibri"/>
              </a:rPr>
              <a:t>Master Five-Paradigm Experimental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6984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Phase 3B — ERM Baseline: </a:t>
            </a:r>
            <a:r>
              <a:rPr sz="1200">
                <a:solidFill>
                  <a:srgbClr val="232A34"/>
                </a:solidFill>
                <a:latin typeface="Calibri"/>
              </a:rPr>
              <a:t>Accuracy: 76.18%  |  Macro F1: 72.63%  |  ROC-AUC: 0.9600  |  PR-AUC: 0.7927  |  Montgomery TB Recall: 0.00%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Phase 4B — Deep CORAL: </a:t>
            </a:r>
            <a:r>
              <a:rPr sz="1200">
                <a:solidFill>
                  <a:srgbClr val="232A34"/>
                </a:solidFill>
                <a:latin typeface="Calibri"/>
              </a:rPr>
              <a:t>Accuracy: 80.89%  |  Macro F1: 76.85%  |  ROC-AUC: 0.9671  |  PR-AUC: 0.8224  |  Montgomery TB Recall: 1.72% (+4.22% F1 over ERM)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Phase 4C — DANN Adversarial: </a:t>
            </a:r>
            <a:r>
              <a:rPr sz="1200">
                <a:solidFill>
                  <a:srgbClr val="232A34"/>
                </a:solidFill>
                <a:latin typeface="Calibri"/>
              </a:rPr>
              <a:t>Accuracy: 76.24%  |  Macro F1: 72.99%  |  ROC-AUC: 0.9603  |  PR-AUC: 0.7915  |  Montgomery TB Recall: 0.00% (Failed to improve over ERM)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Phase 4D — Frequency Preprocessing (Model D): </a:t>
            </a:r>
            <a:r>
              <a:rPr sz="1200">
                <a:solidFill>
                  <a:srgbClr val="232A34"/>
                </a:solidFill>
                <a:latin typeface="Calibri"/>
              </a:rPr>
              <a:t>Accuracy: 82.93%  |  Macro F1: 78.35%  |  ROC-AUC: 0.9755  |  PR-AUC: 0.8391  |  Montgomery TB Recall: 0.00% (DECISIVE WINNER)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Phase 4E — Hybrid (LP + CORAL): </a:t>
            </a:r>
            <a:r>
              <a:rPr sz="1200">
                <a:solidFill>
                  <a:srgbClr val="232A34"/>
                </a:solidFill>
                <a:latin typeface="Calibri"/>
              </a:rPr>
              <a:t>Accuracy: 78.22%  |  Macro F1: 73.95%  |  ROC-AUC: 0.9609  |  PR-AUC: —      |  Montgomery TB Recall: 0.00% (Did not beat frequency alone)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Scientific Finding 1: </a:t>
            </a:r>
            <a:r>
              <a:rPr sz="1200">
                <a:solidFill>
                  <a:srgbClr val="232A34"/>
                </a:solidFill>
                <a:latin typeface="Calibri"/>
              </a:rPr>
              <a:t>Deep CORAL demonstrated that latent covariance alignment improves internal multi-source generalization (+4.22% F1).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Scientific Finding 2: </a:t>
            </a:r>
            <a:r>
              <a:rPr sz="1200">
                <a:solidFill>
                  <a:srgbClr val="232A34"/>
                </a:solidFill>
                <a:latin typeface="Calibri"/>
              </a:rPr>
              <a:t>DANN minimax adversarial training proved unstable, degrading disease-discriminative representations.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Scientific Finding 3: </a:t>
            </a:r>
            <a:r>
              <a:rPr sz="1200">
                <a:solidFill>
                  <a:srgbClr val="232A34"/>
                </a:solidFill>
                <a:latin typeface="Calibri"/>
              </a:rPr>
              <a:t>Model D (Frequency Preprocessing) achieved the peak internal performance (+5.72% F1 over baseline), designated as production engine.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i="1">
                <a:solidFill>
                  <a:srgbClr val="8A99AD"/>
                </a:solidFill>
                <a:latin typeface="Calibri"/>
              </a:rPr>
              <a:t>Model D selected through evidence-driven arbitration rather than choosing the most complex architecture.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A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100" b="1">
                <a:solidFill>
                  <a:srgbClr val="48CAE4"/>
                </a:solidFill>
                <a:latin typeface="Calibri"/>
              </a:rPr>
              <a:t>MODEL D METRICS
</a:t>
            </a:r>
            <a:r>
              <a:rPr sz="2400" b="1">
                <a:solidFill>
                  <a:srgbClr val="FFFFFF"/>
                </a:solidFill>
                <a:latin typeface="Calibri"/>
              </a:rPr>
              <a:t>Final Model D Class-Wise Performance (Internal Test)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246888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73152" cy="10058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99032"/>
            <a:ext cx="22860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82.93%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55606E"/>
                </a:solidFill>
                <a:latin typeface="Calibri"/>
              </a:rPr>
              <a:t>Overall Test Accuracy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325880"/>
            <a:ext cx="246888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325880"/>
            <a:ext cx="73152" cy="1005840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399032"/>
            <a:ext cx="22860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78.35%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55606E"/>
                </a:solidFill>
                <a:latin typeface="Calibri"/>
              </a:rPr>
              <a:t>Macro F1-Score (+5.72%)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325880"/>
            <a:ext cx="246888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0" y="1325880"/>
            <a:ext cx="73152" cy="100584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1399032"/>
            <a:ext cx="22860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0.9755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55606E"/>
                </a:solidFill>
                <a:latin typeface="Calibri"/>
              </a:rPr>
              <a:t>Macro ROC-AUC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0" y="1325880"/>
            <a:ext cx="27432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A3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0" y="1325880"/>
            <a:ext cx="73152" cy="1005840"/>
          </a:xfrm>
          <a:prstGeom prst="rect">
            <a:avLst/>
          </a:prstGeom>
          <a:solidFill>
            <a:srgbClr val="2EA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99032"/>
            <a:ext cx="256032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0.8391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55606E"/>
                </a:solidFill>
                <a:latin typeface="Calibri"/>
              </a:rPr>
              <a:t>Macro PR-AUC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560320"/>
            <a:ext cx="10698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560320"/>
            <a:ext cx="10698480" cy="43891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2596896"/>
            <a:ext cx="104241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Class-Wise Metric Breakdown (N=1,570 Scans)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063240"/>
            <a:ext cx="1033272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COVID-19 (N=292): </a:t>
            </a:r>
            <a:r>
              <a:rPr sz="1200">
                <a:solidFill>
                  <a:srgbClr val="232A34"/>
                </a:solidFill>
                <a:latin typeface="Calibri"/>
              </a:rPr>
              <a:t>Precision: 99.64%  |  Recall: 94.52%  |  Specificity: 99.92%  |  F1-Score: 97.01%  (Near-perfect viral detection)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Normal (N=394): </a:t>
            </a:r>
            <a:r>
              <a:rPr sz="1200">
                <a:solidFill>
                  <a:srgbClr val="232A34"/>
                </a:solidFill>
                <a:latin typeface="Calibri"/>
              </a:rPr>
              <a:t>Precision: 90.86%  |  Recall: 88.32%  |  Specificity: 97.02%  |  F1-Score: 89.58%  (High specificity on healthy controls)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Tuberculosis (N=201): </a:t>
            </a:r>
            <a:r>
              <a:rPr sz="1200">
                <a:solidFill>
                  <a:srgbClr val="232A34"/>
                </a:solidFill>
                <a:latin typeface="Calibri"/>
              </a:rPr>
              <a:t>Precision: 91.98%  |  Recall: 85.57%  |  Specificity: 98.90%  |  F1-Score: 88.66%  (Sharp localization of apical cavities)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Pneumonia (N=423): </a:t>
            </a:r>
            <a:r>
              <a:rPr sz="1200">
                <a:solidFill>
                  <a:srgbClr val="232A34"/>
                </a:solidFill>
                <a:latin typeface="Calibri"/>
              </a:rPr>
              <a:t>Precision: 94.92%  |  Recall: 79.43%  |  Specificity: 98.43%  |  F1-Score: 86.49%  (Strong precision; some effusion overlap)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Pleural Effusion (N=152): </a:t>
            </a:r>
            <a:r>
              <a:rPr sz="1200">
                <a:solidFill>
                  <a:srgbClr val="232A34"/>
                </a:solidFill>
                <a:latin typeface="Calibri"/>
              </a:rPr>
              <a:t>Precision: 60.00%  |  Recall: 51.32%  |  Specificity: 96.33%  |  F1-Score: 55.32%  (Challenging fluid blunting)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Pulmonary Nodule / Mass (N=108): </a:t>
            </a:r>
            <a:r>
              <a:rPr sz="1200">
                <a:solidFill>
                  <a:srgbClr val="232A34"/>
                </a:solidFill>
                <a:latin typeface="Calibri"/>
              </a:rPr>
              <a:t>Precision: 38.49%  |  Recall: 85.19%  |  Specificity: 89.95%  |  F1-Score: 53.03%  (High sensitivity; catches 92/108 nodules)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i="1">
                <a:solidFill>
                  <a:srgbClr val="8A99AD"/>
                </a:solidFill>
                <a:latin typeface="Calibri"/>
              </a:rPr>
              <a:t>Macro Precision: 79.31%  |  Macro Recall: 80.73%  |  Weighted F1: 84.18%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A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100" b="1">
                <a:solidFill>
                  <a:srgbClr val="48CAE4"/>
                </a:solidFill>
                <a:latin typeface="Calibri"/>
              </a:rPr>
              <a:t>EXTERNAL BOUNDARY
</a:t>
            </a:r>
            <a:r>
              <a:rPr sz="2400" b="1">
                <a:solidFill>
                  <a:srgbClr val="FFFFFF"/>
                </a:solidFill>
                <a:latin typeface="Calibri"/>
              </a:rPr>
              <a:t>External Generalization: The Montgomery Failure Audit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3291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07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73152" cy="1005840"/>
          </a:xfrm>
          <a:prstGeom prst="rect">
            <a:avLst/>
          </a:prstGeom>
          <a:solidFill>
            <a:srgbClr val="107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99032"/>
            <a:ext cx="310896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100.0%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55606E"/>
                </a:solidFill>
                <a:latin typeface="Calibri"/>
              </a:rPr>
              <a:t>Binary Abnormal Sensitivity (58/58 TB)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325880"/>
            <a:ext cx="3291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B0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325880"/>
            <a:ext cx="73152" cy="1005840"/>
          </a:xfrm>
          <a:prstGeom prst="rect">
            <a:avLst/>
          </a:prstGeom>
          <a:solidFill>
            <a:srgbClr val="B0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399032"/>
            <a:ext cx="310896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0.00%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55606E"/>
                </a:solidFill>
                <a:latin typeface="Calibri"/>
              </a:rPr>
              <a:t>Exact Tuberculosis Recall (0/58 TB)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325880"/>
            <a:ext cx="338328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325880"/>
            <a:ext cx="73152" cy="10058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399032"/>
            <a:ext cx="32004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4x Discrepancy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55606E"/>
                </a:solidFill>
                <a:latin typeface="Calibri"/>
              </a:rPr>
              <a:t>Laplacian Edge Variance (1,580 vs 373)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560320"/>
            <a:ext cx="5120640" cy="3566160"/>
          </a:xfrm>
          <a:prstGeom prst="rect">
            <a:avLst/>
          </a:prstGeom>
          <a:solidFill>
            <a:srgbClr val="F2F6FB"/>
          </a:solidFill>
          <a:ln w="12700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560320"/>
            <a:ext cx="5120640" cy="438912"/>
          </a:xfrm>
          <a:prstGeom prst="rect">
            <a:avLst/>
          </a:prstGeom>
          <a:solidFill>
            <a:srgbClr val="B0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596896"/>
            <a:ext cx="48463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Zero-Shot Evaluation Results (N=138)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063240"/>
            <a:ext cx="475488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Untouched Benchmark: </a:t>
            </a:r>
            <a:r>
              <a:rPr sz="1200">
                <a:solidFill>
                  <a:srgbClr val="232A34"/>
                </a:solidFill>
                <a:latin typeface="Calibri"/>
              </a:rPr>
              <a:t>138 scans (58 active TB, 80 normal controls) from Montgomery County, Maryland.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Binary Safety Intact: </a:t>
            </a:r>
            <a:r>
              <a:rPr sz="1200">
                <a:solidFill>
                  <a:srgbClr val="232A34"/>
                </a:solidFill>
                <a:latin typeface="Calibri"/>
              </a:rPr>
              <a:t>100% of active TB cases flagged as abnormal (0 false negatives).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Fine-Grained Collapse: </a:t>
            </a:r>
            <a:r>
              <a:rPr sz="1200">
                <a:solidFill>
                  <a:srgbClr val="232A34"/>
                </a:solidFill>
                <a:latin typeface="Calibri"/>
              </a:rPr>
              <a:t>TB exact recall collapsed to 0%; Normal specificity collapsed to 0%.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Dominant False Class: </a:t>
            </a:r>
            <a:r>
              <a:rPr sz="1200">
                <a:solidFill>
                  <a:srgbClr val="232A34"/>
                </a:solidFill>
                <a:latin typeface="Calibri"/>
              </a:rPr>
              <a:t>86.2% of TB scans and 100% of Normal scans collapsed into Pulmonary Nodule / Mass.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High Misplaced Confidence: </a:t>
            </a:r>
            <a:r>
              <a:rPr sz="1200">
                <a:solidFill>
                  <a:srgbClr val="232A34"/>
                </a:solidFill>
                <a:latin typeface="Calibri"/>
              </a:rPr>
              <a:t>Mean maximum predicted probability was 0.8691.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560320"/>
            <a:ext cx="5212080" cy="3566160"/>
          </a:xfrm>
          <a:prstGeom prst="rect">
            <a:avLst/>
          </a:prstGeom>
          <a:solidFill>
            <a:srgbClr val="F2F6FB"/>
          </a:solidFill>
          <a:ln w="12700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560320"/>
            <a:ext cx="5212080" cy="43891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2596896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Biophysical Root-Cause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063240"/>
            <a:ext cx="484632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Scanned Film vs Digital DR: </a:t>
            </a:r>
            <a:r>
              <a:rPr sz="1200">
                <a:solidFill>
                  <a:srgbClr val="232A34"/>
                </a:solidFill>
                <a:latin typeface="Calibri"/>
              </a:rPr>
              <a:t>Montgomery scans are digitized analog films; V5 scans are direct digital radiographs.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Laplacian High-Frequency Grain: </a:t>
            </a:r>
            <a:r>
              <a:rPr sz="1200">
                <a:solidFill>
                  <a:srgbClr val="232A34"/>
                </a:solidFill>
                <a:latin typeface="Calibri"/>
              </a:rPr>
              <a:t>Mean edge variance is ~4x higher in Montgomery (1,580.2 vs 373.4) due to film grain and digitizer noise.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Texture Confusion: </a:t>
            </a:r>
            <a:r>
              <a:rPr sz="1200">
                <a:solidFill>
                  <a:srgbClr val="232A34"/>
                </a:solidFill>
                <a:latin typeface="Calibri"/>
              </a:rPr>
              <a:t>Convolutional kernels mistook high-frequency film grain for nodular parenchymal opacities.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Critical Scientific Caveat: </a:t>
            </a:r>
            <a:r>
              <a:rPr sz="1200">
                <a:solidFill>
                  <a:srgbClr val="232A34"/>
                </a:solidFill>
                <a:latin typeface="Calibri"/>
              </a:rPr>
              <a:t>Substantial source-dependent distribution differences were associated with failure; causal attribution to any single factor is not established.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i="1">
                <a:solidFill>
                  <a:srgbClr val="8A99AD"/>
                </a:solidFill>
                <a:latin typeface="Calibri"/>
              </a:rPr>
              <a:t>Transparently proves that external domain transfer across radical sensor shifts remains an open scientific challenge.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A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100" b="1">
                <a:solidFill>
                  <a:srgbClr val="48CAE4"/>
                </a:solidFill>
                <a:latin typeface="Calibri"/>
              </a:rPr>
              <a:t>INPUT SAFETY
</a:t>
            </a:r>
            <a:r>
              <a:rPr sz="2400" b="1">
                <a:solidFill>
                  <a:srgbClr val="FFFFFF"/>
                </a:solidFill>
                <a:latin typeface="Calibri"/>
              </a:rPr>
              <a:t>Defense-in-Depth: Two-Stage CXR Validation 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5120640" cy="4663440"/>
          </a:xfrm>
          <a:prstGeom prst="rect">
            <a:avLst/>
          </a:prstGeom>
          <a:solidFill>
            <a:srgbClr val="F2F6FB"/>
          </a:solidFill>
          <a:ln w="12700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5120640" cy="43891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62456"/>
            <a:ext cx="48463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Two-Stage Perimeter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548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Stage 1 (Biophysical Screening): </a:t>
            </a:r>
            <a:r>
              <a:rPr sz="1200">
                <a:solidFill>
                  <a:srgbClr val="232A34"/>
                </a:solidFill>
                <a:latin typeface="Calibri"/>
              </a:rPr>
              <a:t>Evaluates resolution (min 32x32), aspect ratio (&lt;=2.2:1), luminance variance (std &gt;=10.0), and polychromatic saturation (&gt;15% high-sat pixels across &gt;=3 hue bands). Intercepts color photos and blank documents.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Stage 2 (Semantic Classifier): </a:t>
            </a:r>
            <a:r>
              <a:rPr sz="1200">
                <a:solidFill>
                  <a:srgbClr val="232A34"/>
                </a:solidFill>
                <a:latin typeface="Calibri"/>
              </a:rPr>
              <a:t>Binary DenseNet-121 classifier trained to recognize thoracic skeletal and mediastinal anatomy at production threshold tau = 0.83.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The Cat Test Case Defect: </a:t>
            </a:r>
            <a:r>
              <a:rPr sz="1200">
                <a:solidFill>
                  <a:srgbClr val="232A34"/>
                </a:solidFill>
                <a:latin typeface="Calibri"/>
              </a:rPr>
              <a:t>At tau = 0.70, a cat photo scored 0.822 and leaked through. Threshold audit corrected tau = 0.83, successfully intercepting adversarial inputs.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Combined Screening Result: </a:t>
            </a:r>
            <a:r>
              <a:rPr sz="1200">
                <a:solidFill>
                  <a:srgbClr val="232A34"/>
                </a:solidFill>
                <a:latin typeface="Calibri"/>
              </a:rPr>
              <a:t>Intercepted 100% of tested non-radiographic uploads (13/13 representative test suite).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25880"/>
            <a:ext cx="5212080" cy="4663440"/>
          </a:xfrm>
          <a:prstGeom prst="rect">
            <a:avLst/>
          </a:prstGeom>
          <a:solidFill>
            <a:srgbClr val="F2F6FB"/>
          </a:solidFill>
          <a:ln w="12700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25880"/>
            <a:ext cx="5212080" cy="43891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362456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Forensic Results &amp; Mandatory Disclosure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125-Image Evaluation Cohort: </a:t>
            </a:r>
            <a:r>
              <a:rPr sz="1200">
                <a:solidFill>
                  <a:srgbClr val="232A34"/>
                </a:solidFill>
                <a:latin typeface="Calibri"/>
              </a:rPr>
              <a:t>48 genuine CXR scans + 77 non-CXR images (CT slices, color photos, grayscale images, documents).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Authentic CXR Pass Rate: </a:t>
            </a:r>
            <a:r>
              <a:rPr sz="1200">
                <a:solidFill>
                  <a:srgbClr val="232A34"/>
                </a:solidFill>
                <a:latin typeface="Calibri"/>
              </a:rPr>
              <a:t>48 / 48 genuine CXRs passed both stages (100% sensitivity; 0 false rejections).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Non-CXR Rejection Rate: </a:t>
            </a:r>
            <a:r>
              <a:rPr sz="1200">
                <a:solidFill>
                  <a:srgbClr val="232A34"/>
                </a:solidFill>
                <a:latin typeface="Calibri"/>
              </a:rPr>
              <a:t>77 / 77 non-CXR images rejected (100% specificity; ROC-AUC 1.0000).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CRITICAL METHODOLOGICAL DISCLOSURE: </a:t>
            </a:r>
            <a:r>
              <a:rPr sz="1200">
                <a:solidFill>
                  <a:srgbClr val="232A34"/>
                </a:solidFill>
                <a:latin typeface="Calibri"/>
              </a:rPr>
              <a:t>Threshold tau = 0.83 was selected on the same 125-image evaluation cohort. Consequently, reported 100% metrics represent functional verification estimates rather than unbiased estimates of generalization.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Clinical Impact: </a:t>
            </a:r>
            <a:r>
              <a:rPr sz="1200">
                <a:solidFill>
                  <a:srgbClr val="232A34"/>
                </a:solidFill>
                <a:latin typeface="Calibri"/>
              </a:rPr>
              <a:t>Safely protects Model D from out-of-distribution contamination.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i="1">
                <a:solidFill>
                  <a:srgbClr val="8A99AD"/>
                </a:solidFill>
                <a:latin typeface="Calibri"/>
              </a:rPr>
              <a:t>backend/ml/cxr_gate.py  |  PRODUCTION_CXR_THRESHOLD = 0.83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A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100" b="1">
                <a:solidFill>
                  <a:srgbClr val="48CAE4"/>
                </a:solidFill>
                <a:latin typeface="Calibri"/>
              </a:rPr>
              <a:t>CLINICAL INTERPRETABILITY
</a:t>
            </a:r>
            <a:r>
              <a:rPr sz="2400" b="1">
                <a:solidFill>
                  <a:srgbClr val="FFFFFF"/>
                </a:solidFill>
                <a:latin typeface="Calibri"/>
              </a:rPr>
              <a:t>Explainable AI: Real-Time Grad-CAM Saliency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5120640" cy="4663440"/>
          </a:xfrm>
          <a:prstGeom prst="rect">
            <a:avLst/>
          </a:prstGeom>
          <a:solidFill>
            <a:srgbClr val="F2F6FB"/>
          </a:solidFill>
          <a:ln w="12700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5120640" cy="438912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62456"/>
            <a:ext cx="48463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Mathematical Formulation &amp; Target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548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Target Convolutional Layer: </a:t>
            </a:r>
            <a:r>
              <a:rPr sz="1200">
                <a:solidFill>
                  <a:srgbClr val="232A34"/>
                </a:solidFill>
                <a:latin typeface="Calibri"/>
              </a:rPr>
              <a:t>Attached directly to `conv5_block16_concat` (1,024 channels), the final dense feature representation before pooling.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Neuron Importance Weights: </a:t>
            </a:r>
            <a:r>
              <a:rPr sz="1200">
                <a:solidFill>
                  <a:srgbClr val="232A34"/>
                </a:solidFill>
                <a:latin typeface="Calibri"/>
              </a:rPr>
              <a:t>Gradients of predicted class score Y^c are globally pooled: alpha_k^c = (1/Z) sum sum (dY^c / dA^k).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Rectified Linear Activation: </a:t>
            </a:r>
            <a:r>
              <a:rPr sz="1200">
                <a:solidFill>
                  <a:srgbClr val="232A34"/>
                </a:solidFill>
                <a:latin typeface="Calibri"/>
              </a:rPr>
              <a:t>L_GradCAM = ReLU(sum alpha_k^c A^k) ensures only positive pathological evidence is visualized.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Dynamic Heatmap Rendering: </a:t>
            </a:r>
            <a:r>
              <a:rPr sz="1200">
                <a:solidFill>
                  <a:srgbClr val="232A34"/>
                </a:solidFill>
                <a:latin typeface="Calibri"/>
              </a:rPr>
              <a:t>Upsampled to 224x224, mapped via COLORMAP_JET, and alpha-blended (alpha=0.45) over the patient's radiograph.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Zero Bounding-Box Overhead: </a:t>
            </a:r>
            <a:r>
              <a:rPr sz="1200">
                <a:solidFill>
                  <a:srgbClr val="232A34"/>
                </a:solidFill>
                <a:latin typeface="Calibri"/>
              </a:rPr>
              <a:t>Achieves precise anatomical localization without requiring labor-intensive bounding-box annotations during training.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25880"/>
            <a:ext cx="5212080" cy="4663440"/>
          </a:xfrm>
          <a:prstGeom prst="rect">
            <a:avLst/>
          </a:prstGeom>
          <a:solidFill>
            <a:srgbClr val="F2F6FB"/>
          </a:solidFill>
          <a:ln w="12700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25880"/>
            <a:ext cx="5212080" cy="43891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362456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Radiological Verification Patterns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Pneumonia Verification: </a:t>
            </a:r>
            <a:r>
              <a:rPr sz="1200">
                <a:solidFill>
                  <a:srgbClr val="232A34"/>
                </a:solidFill>
                <a:latin typeface="Calibri"/>
              </a:rPr>
              <a:t>Focal heatmaps concentrate over dense unilateral alveolar consolidations and air bronchograms.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COVID-19 Verification: </a:t>
            </a:r>
            <a:r>
              <a:rPr sz="1200">
                <a:solidFill>
                  <a:srgbClr val="232A34"/>
                </a:solidFill>
                <a:latin typeface="Calibri"/>
              </a:rPr>
              <a:t>Bilateral, multifocal heatmaps highlight peripheral and subpleural ground-glass opacities.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Tuberculosis Verification: </a:t>
            </a:r>
            <a:r>
              <a:rPr sz="1200">
                <a:solidFill>
                  <a:srgbClr val="232A34"/>
                </a:solidFill>
                <a:latin typeface="Calibri"/>
              </a:rPr>
              <a:t>Heatmaps localize sharply over apical fibro-cavitary architectural distortions.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Clinical Trust &amp; Auditability: </a:t>
            </a:r>
            <a:r>
              <a:rPr sz="1200">
                <a:solidFill>
                  <a:srgbClr val="232A34"/>
                </a:solidFill>
                <a:latin typeface="Calibri"/>
              </a:rPr>
              <a:t>Allows attending clinicians to verify whether predictions stem from true parenchymal lesions rather than digital shortcuts.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Interactive UI Control: </a:t>
            </a:r>
            <a:r>
              <a:rPr sz="1200">
                <a:solidFill>
                  <a:srgbClr val="232A34"/>
                </a:solidFill>
                <a:latin typeface="Calibri"/>
              </a:rPr>
              <a:t>Clinicians can adjust heatmap opacity and toggle side-by-side inspection in the web viewport.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i="1">
                <a:solidFill>
                  <a:srgbClr val="8A99AD"/>
                </a:solidFill>
                <a:latin typeface="Calibri"/>
              </a:rPr>
              <a:t>LungAI M.Tech Dissertation  |  Department of CSE, JNTUH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A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100" b="1">
                <a:solidFill>
                  <a:srgbClr val="48CAE4"/>
                </a:solidFill>
                <a:latin typeface="Calibri"/>
              </a:rPr>
              <a:t>SOFTWARE DEPLOYMENT
</a:t>
            </a:r>
            <a:r>
              <a:rPr sz="2400" b="1">
                <a:solidFill>
                  <a:srgbClr val="FFFFFF"/>
                </a:solidFill>
                <a:latin typeface="Calibri"/>
              </a:rPr>
              <a:t>Full-Stack Application &amp; Clinical Urgency Triage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5120640" cy="4663440"/>
          </a:xfrm>
          <a:prstGeom prst="rect">
            <a:avLst/>
          </a:prstGeom>
          <a:solidFill>
            <a:srgbClr val="F2F6FB"/>
          </a:solidFill>
          <a:ln w="12700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5120640" cy="438912"/>
          </a:xfrm>
          <a:prstGeom prst="rect">
            <a:avLst/>
          </a:prstGeom>
          <a:solidFill>
            <a:srgbClr val="B0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62456"/>
            <a:ext cx="48463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Deterministic Urgency Stratification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548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Emergency Tier (Priority 1): </a:t>
            </a:r>
            <a:r>
              <a:rPr sz="1200">
                <a:solidFill>
                  <a:srgbClr val="232A34"/>
                </a:solidFill>
                <a:latin typeface="Calibri"/>
              </a:rPr>
              <a:t>Pneumonia p &gt;= 0.70, COVID-19 p &gt;= 0.70, or any acute finding p &gt;= 0.85. Flags acute respiratory failure risk for immediate evaluation.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Urgent Tier (Priority 2): </a:t>
            </a:r>
            <a:r>
              <a:rPr sz="1200">
                <a:solidFill>
                  <a:srgbClr val="232A34"/>
                </a:solidFill>
                <a:latin typeface="Calibri"/>
              </a:rPr>
              <a:t>Tuberculosis p &gt;= 0.50 (isolation), Pleural Effusion p &gt;= 0.50 (thoracentesis), Pulmonary Nodule / Mass p &gt;= 0.40 (oncology workup).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Routine Tier (Priority 3): </a:t>
            </a:r>
            <a:r>
              <a:rPr sz="1200">
                <a:solidFill>
                  <a:srgbClr val="232A34"/>
                </a:solidFill>
                <a:latin typeface="Calibri"/>
              </a:rPr>
              <a:t>Normal p &gt;= 0.60 or indeterminate multi-class distributions. Standard elective radiologist review.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PACS Queue Impact: </a:t>
            </a:r>
            <a:r>
              <a:rPr sz="1200">
                <a:solidFill>
                  <a:srgbClr val="232A34"/>
                </a:solidFill>
                <a:latin typeface="Calibri"/>
              </a:rPr>
              <a:t>Dynamically reorganizes reading lists, ensuring life-threatening opacities are reviewed within minutes.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25880"/>
            <a:ext cx="5212080" cy="4663440"/>
          </a:xfrm>
          <a:prstGeom prst="rect">
            <a:avLst/>
          </a:prstGeom>
          <a:solidFill>
            <a:srgbClr val="F2F6FB"/>
          </a:solidFill>
          <a:ln w="12700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25880"/>
            <a:ext cx="5212080" cy="43891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362456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Enterprise Microservice Implementation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Asynchronous REST API: </a:t>
            </a:r>
            <a:r>
              <a:rPr sz="1200">
                <a:solidFill>
                  <a:srgbClr val="232A34"/>
                </a:solidFill>
                <a:latin typeface="Calibri"/>
              </a:rPr>
              <a:t>FastAPI ASGI backend exposing validated RESTful endpoints under `/api/v1/`.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Interactive DICOM Viewport: </a:t>
            </a:r>
            <a:r>
              <a:rPr sz="1200">
                <a:solidFill>
                  <a:srgbClr val="232A34"/>
                </a:solidFill>
                <a:latin typeface="Calibri"/>
              </a:rPr>
              <a:t>Hardware-accelerated canvas windowing, zoom (1x–4x), panning, and contrast adjustments.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Automated Clinical Reporting: </a:t>
            </a:r>
            <a:r>
              <a:rPr sz="1200">
                <a:solidFill>
                  <a:srgbClr val="232A34"/>
                </a:solidFill>
                <a:latin typeface="Calibri"/>
              </a:rPr>
              <a:t>Synthesizes structured PDF summaries with embedded Grad-CAM overlays and mandatory disclaimers.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Relational Data Persistence: </a:t>
            </a:r>
            <a:r>
              <a:rPr sz="1200">
                <a:solidFill>
                  <a:srgbClr val="232A34"/>
                </a:solidFill>
                <a:latin typeface="Calibri"/>
              </a:rPr>
              <a:t>SQLAlchemy ORM managing normalized schemas for patients, scans, predictions, and audit logs.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i="1">
                <a:solidFill>
                  <a:srgbClr val="8A99AD"/>
                </a:solidFill>
                <a:latin typeface="Calibri"/>
              </a:rPr>
              <a:t>Decoupled 3-Tier Architecture: React 18 SPA  •  FastAPI ASGI  •  SQLite/PostgreSQL ORM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A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100" b="1">
                <a:solidFill>
                  <a:srgbClr val="48CAE4"/>
                </a:solidFill>
                <a:latin typeface="Calibri"/>
              </a:rPr>
              <a:t>SOFTWARE TESTING
</a:t>
            </a:r>
            <a:r>
              <a:rPr sz="2400" b="1">
                <a:solidFill>
                  <a:srgbClr val="FFFFFF"/>
                </a:solidFill>
                <a:latin typeface="Calibri"/>
              </a:rPr>
              <a:t>Software Verification &amp; Quality Assurance Suite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246888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07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73152" cy="1005840"/>
          </a:xfrm>
          <a:prstGeom prst="rect">
            <a:avLst/>
          </a:prstGeom>
          <a:solidFill>
            <a:srgbClr val="107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99032"/>
            <a:ext cx="22860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44 / 44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55606E"/>
                </a:solidFill>
                <a:latin typeface="Calibri"/>
              </a:rPr>
              <a:t>Automated Pytest Suite Passed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325880"/>
            <a:ext cx="246888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325880"/>
            <a:ext cx="73152" cy="10058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399032"/>
            <a:ext cx="22860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100%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55606E"/>
                </a:solidFill>
                <a:latin typeface="Calibri"/>
              </a:rPr>
              <a:t>Test Pass Rate (0 Failures, 0 Errors)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325880"/>
            <a:ext cx="246888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85F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0" y="1325880"/>
            <a:ext cx="73152" cy="1005840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1399032"/>
            <a:ext cx="228600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&lt; 120 ms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55606E"/>
                </a:solidFill>
                <a:latin typeface="Calibri"/>
              </a:rPr>
              <a:t>GPU Forward Inference Latency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0" y="1325880"/>
            <a:ext cx="27432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0" y="1325880"/>
            <a:ext cx="73152" cy="100584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99032"/>
            <a:ext cx="256032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0 Bytes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55606E"/>
                </a:solidFill>
                <a:latin typeface="Calibri"/>
              </a:rPr>
              <a:t>Patient Identity Leakage Detected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560320"/>
            <a:ext cx="10698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560320"/>
            <a:ext cx="10698480" cy="43891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2596896"/>
            <a:ext cx="104241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Automated Test Coverage Breakdown (Pytest 7.4)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063240"/>
            <a:ext cx="1033272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Preprocessing Suite (6 Tests): </a:t>
            </a:r>
            <a:r>
              <a:rPr sz="1200">
                <a:solidFill>
                  <a:srgbClr val="232A34"/>
                </a:solidFill>
                <a:latin typeface="Calibri"/>
              </a:rPr>
              <a:t>Verified output tensor shape (1, 224, 224, 3), corrupt byte handling, CLAHE dynamic range expansion, Gaussian LP energy attenuation, and ImageNet standardization.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Model &amp; Inference Suite (9 Tests): </a:t>
            </a:r>
            <a:r>
              <a:rPr sz="1200">
                <a:solidFill>
                  <a:srgbClr val="232A34"/>
                </a:solidFill>
                <a:latin typeface="Calibri"/>
              </a:rPr>
              <a:t>Verified singleton weights loading, 6-class softmax probability conservation (sum = 1.0), top-class index matching, and Emergency/Urgent/Routine triage rules.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CXR Validation Gate Suite (8 Tests): </a:t>
            </a:r>
            <a:r>
              <a:rPr sz="1200">
                <a:solidFill>
                  <a:srgbClr val="232A34"/>
                </a:solidFill>
                <a:latin typeface="Calibri"/>
              </a:rPr>
              <a:t>Verified Stage 1 dimension/aspect ratio/saturation checks, Stage 2 semantic screening, adversarial cat test case rejection, and fallback symmetry scoring.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REST API &amp; Routers Suite (7 Tests): </a:t>
            </a:r>
            <a:r>
              <a:rPr sz="1200">
                <a:solidFill>
                  <a:srgbClr val="232A34"/>
                </a:solidFill>
                <a:latin typeface="Calibri"/>
              </a:rPr>
              <a:t>Verified `/api/v1/health`, multipart upload handling, payload ceilings (10 MB), invalid file extensions, and corrupt byte exceptions.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Patient Management Suite (6 Tests): </a:t>
            </a:r>
            <a:r>
              <a:rPr sz="1200">
                <a:solidFill>
                  <a:srgbClr val="232A34"/>
                </a:solidFill>
                <a:latin typeface="Calibri"/>
              </a:rPr>
              <a:t>Verified UUIDv4 profile creation, duplicate MRN conflict prevention, paginated queries, and cascading delete integrity.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Reports &amp; Database Suite (8 Tests): </a:t>
            </a:r>
            <a:r>
              <a:rPr sz="1200">
                <a:solidFill>
                  <a:srgbClr val="232A34"/>
                </a:solidFill>
                <a:latin typeface="Calibri"/>
              </a:rPr>
              <a:t>Verified atomic transaction rollback, foreign key constraints, JSON/PDF report generation, CORS headers, and latency logging.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i="1">
                <a:solidFill>
                  <a:srgbClr val="8A99AD"/>
                </a:solidFill>
                <a:latin typeface="Calibri"/>
              </a:rPr>
              <a:t>Replaces historical 22-test baseline with comprehensive 44-test production verification suite.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A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100" b="1">
                <a:solidFill>
                  <a:srgbClr val="48CAE4"/>
                </a:solidFill>
                <a:latin typeface="Calibri"/>
              </a:rPr>
              <a:t>RESEARCH IMPACT
</a:t>
            </a:r>
            <a:r>
              <a:rPr sz="2400" b="1">
                <a:solidFill>
                  <a:srgbClr val="FFFFFF"/>
                </a:solidFill>
                <a:latin typeface="Calibri"/>
              </a:rPr>
              <a:t>Ten Core Scientific &amp; Engineering Contributions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5120640" cy="4663440"/>
          </a:xfrm>
          <a:prstGeom prst="rect">
            <a:avLst/>
          </a:prstGeom>
          <a:solidFill>
            <a:srgbClr val="F2F6FB"/>
          </a:solidFill>
          <a:ln w="12700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5120640" cy="43891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62456"/>
            <a:ext cx="48463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Scientific &amp; Empirical Contributions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548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1. Forensic Dataset Harmonization: </a:t>
            </a:r>
            <a:r>
              <a:rPr sz="1200">
                <a:solidFill>
                  <a:srgbClr val="232A34"/>
                </a:solidFill>
                <a:latin typeface="Calibri"/>
              </a:rPr>
              <a:t>Constructed canonical V5 cohort (10,547 scans, 10,270 patients) across 8 sources with verified 0% patient leakage.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2. Source Confounding Quantification: </a:t>
            </a:r>
            <a:r>
              <a:rPr sz="1200">
                <a:solidFill>
                  <a:srgbClr val="232A34"/>
                </a:solidFill>
                <a:latin typeface="Calibri"/>
              </a:rPr>
              <a:t>Audited Cramér's V (0.7654), documenting severe shortcut risk in public CXR collections.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3. Controlled Domain Generalization: </a:t>
            </a:r>
            <a:r>
              <a:rPr sz="1200">
                <a:solidFill>
                  <a:srgbClr val="232A34"/>
                </a:solidFill>
                <a:latin typeface="Calibri"/>
              </a:rPr>
              <a:t>Head-to-head comparison of 5 paradigms under identical DenseNet-121 backbone and training schedules.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4. Evidence-Driven Model Selection: </a:t>
            </a:r>
            <a:r>
              <a:rPr sz="1200">
                <a:solidFill>
                  <a:srgbClr val="232A34"/>
                </a:solidFill>
                <a:latin typeface="Calibri"/>
              </a:rPr>
              <a:t>Model D achieved peak internal performance (82.93% acc, 78.35% F1, 0.9755 ROC-AUC) via frequency filtering.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5. Negative Results Disclosure: </a:t>
            </a:r>
            <a:r>
              <a:rPr sz="1200">
                <a:solidFill>
                  <a:srgbClr val="232A34"/>
                </a:solidFill>
                <a:latin typeface="Calibri"/>
              </a:rPr>
              <a:t>Documented that DANN (76.24%) and Hybrid (78.22%) failed to beat frequency filtering alone.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25880"/>
            <a:ext cx="5212080" cy="4663440"/>
          </a:xfrm>
          <a:prstGeom prst="rect">
            <a:avLst/>
          </a:prstGeom>
          <a:solidFill>
            <a:srgbClr val="F2F6FB"/>
          </a:solidFill>
          <a:ln w="12700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25880"/>
            <a:ext cx="5212080" cy="438912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362456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Methodological &amp; Engineering Contributions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6. External Failure Root-Cause Analysis: </a:t>
            </a:r>
            <a:r>
              <a:rPr sz="1200">
                <a:solidFill>
                  <a:srgbClr val="232A34"/>
                </a:solidFill>
                <a:latin typeface="Calibri"/>
              </a:rPr>
              <a:t>Disclosed Montgomery failure (0% TB recall); linked collapse to 4x higher Laplacian edge variance in scanned film.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7. Two-Stage CXR Validation Gate: </a:t>
            </a:r>
            <a:r>
              <a:rPr sz="1200">
                <a:solidFill>
                  <a:srgbClr val="232A34"/>
                </a:solidFill>
                <a:latin typeface="Calibri"/>
              </a:rPr>
              <a:t>Engineered biophysical + semantic gate at tau=0.83, intercepting 100% of tested non-radiographic uploads.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8. Threshold Leakage Disclosure: </a:t>
            </a:r>
            <a:r>
              <a:rPr sz="1200">
                <a:solidFill>
                  <a:srgbClr val="232A34"/>
                </a:solidFill>
                <a:latin typeface="Calibri"/>
              </a:rPr>
              <a:t>Transparently disclosed gate threshold selection on evaluation cohort, upholding academic honesty.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9. Visual Saliency Explainability: </a:t>
            </a:r>
            <a:r>
              <a:rPr sz="1200">
                <a:solidFill>
                  <a:srgbClr val="232A34"/>
                </a:solidFill>
                <a:latin typeface="Calibri"/>
              </a:rPr>
              <a:t>Integrated Grad-CAM targeting `conv5_block16_concat` for verifiable anatomical lesion auditing.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10. Full-Stack Clinical Web Platform: </a:t>
            </a:r>
            <a:r>
              <a:rPr sz="1200">
                <a:solidFill>
                  <a:srgbClr val="232A34"/>
                </a:solidFill>
                <a:latin typeface="Calibri"/>
              </a:rPr>
              <a:t>Delivered responsive React 18 SPA + FastAPI backend + SQLAlchemy ORM with 44/44 passed tests.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i="1">
                <a:solidFill>
                  <a:srgbClr val="8A99AD"/>
                </a:solidFill>
                <a:latin typeface="Calibri"/>
              </a:rPr>
              <a:t>LungAI M.Tech Dissertation  |  Department of CSE, JNTUH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A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100" b="1">
                <a:solidFill>
                  <a:srgbClr val="48CAE4"/>
                </a:solidFill>
                <a:latin typeface="Calibri"/>
              </a:rPr>
              <a:t>METHODOLOGICAL BOUNDS
</a:t>
            </a:r>
            <a:r>
              <a:rPr sz="2400" b="1">
                <a:solidFill>
                  <a:srgbClr val="FFFFFF"/>
                </a:solidFill>
                <a:latin typeface="Calibri"/>
              </a:rPr>
              <a:t>Academic &amp; Clinical Scope 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5120640" cy="4663440"/>
          </a:xfrm>
          <a:prstGeom prst="rect">
            <a:avLst/>
          </a:prstGeom>
          <a:solidFill>
            <a:srgbClr val="F2F6FB"/>
          </a:solidFill>
          <a:ln w="12700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5120640" cy="43891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62456"/>
            <a:ext cx="48463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Empirical &amp; Machine Learning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548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External Montgomery Collapse: </a:t>
            </a:r>
            <a:r>
              <a:rPr sz="1200">
                <a:solidFill>
                  <a:srgbClr val="232A34"/>
                </a:solidFill>
                <a:latin typeface="Calibri"/>
              </a:rPr>
              <a:t>0% exact TB recall on external scanned film benchmark due to radical sensor shift and film grain.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Source-Class Confounding: </a:t>
            </a:r>
            <a:r>
              <a:rPr sz="1200">
                <a:solidFill>
                  <a:srgbClr val="232A34"/>
                </a:solidFill>
                <a:latin typeface="Calibri"/>
              </a:rPr>
              <a:t>Public datasets exhibit Cramér's V = 0.7654; certain conditions originate from single repositories.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Class Imbalance: </a:t>
            </a:r>
            <a:r>
              <a:rPr sz="1200">
                <a:solidFill>
                  <a:srgbClr val="232A34"/>
                </a:solidFill>
                <a:latin typeface="Calibri"/>
              </a:rPr>
              <a:t>2,805 Pneumonia vs 754 Nodule scans; minority classes exhibit lower F1 (53.03% Nodule, 55.32% Effusion).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Diagnostic Ambiguity of Planar Nodules: </a:t>
            </a:r>
            <a:r>
              <a:rPr sz="1200">
                <a:solidFill>
                  <a:srgbClr val="232A34"/>
                </a:solidFill>
                <a:latin typeface="Calibri"/>
              </a:rPr>
              <a:t>High nodule sensitivity (85.19%) accompanied by lower precision (38.49%) due to rib crossings.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Single-Label Formulation: </a:t>
            </a:r>
            <a:r>
              <a:rPr sz="1200">
                <a:solidFill>
                  <a:srgbClr val="232A34"/>
                </a:solidFill>
                <a:latin typeface="Calibri"/>
              </a:rPr>
              <a:t>Enforces single-class softmax, oversimplifying complex multi-pathology co-occurrences (e.g., Pneumonia + Effusion).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Fixed 224x224 Resolution: </a:t>
            </a:r>
            <a:r>
              <a:rPr sz="1200">
                <a:solidFill>
                  <a:srgbClr val="232A34"/>
                </a:solidFill>
                <a:latin typeface="Calibri"/>
              </a:rPr>
              <a:t>Spatial downsampling may attenuate subtle micro-nodules or fine apical cavitation lines.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25880"/>
            <a:ext cx="5212080" cy="4663440"/>
          </a:xfrm>
          <a:prstGeom prst="rect">
            <a:avLst/>
          </a:prstGeom>
          <a:solidFill>
            <a:srgbClr val="F2F6FB"/>
          </a:solidFill>
          <a:ln w="12700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25880"/>
            <a:ext cx="5212080" cy="438912"/>
          </a:xfrm>
          <a:prstGeom prst="rect">
            <a:avLst/>
          </a:prstGeom>
          <a:solidFill>
            <a:srgbClr val="B0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362456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Validation &amp; Clinical Governance 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Gate Threshold-Selection Leakage: </a:t>
            </a:r>
            <a:r>
              <a:rPr sz="1200">
                <a:solidFill>
                  <a:srgbClr val="232A34"/>
                </a:solidFill>
                <a:latin typeface="Calibri"/>
              </a:rPr>
              <a:t>Threshold tau = 0.83 was selected on the 125-image evaluation cohort; 100% metrics represent functional verification.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Small Gate Evaluation Size: </a:t>
            </a:r>
            <a:r>
              <a:rPr sz="1200">
                <a:solidFill>
                  <a:srgbClr val="232A34"/>
                </a:solidFill>
                <a:latin typeface="Calibri"/>
              </a:rPr>
              <a:t>125 images cannot capture the full global distribution of non-radiographic uploads.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No Empirical Probability Calibration: </a:t>
            </a:r>
            <a:r>
              <a:rPr sz="1200">
                <a:solidFill>
                  <a:srgbClr val="232A34"/>
                </a:solidFill>
                <a:latin typeface="Calibri"/>
              </a:rPr>
              <a:t>Model D softmax probabilities were not calibrated via temperature scaling.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Heuristic Urgency Triage Rules: </a:t>
            </a:r>
            <a:r>
              <a:rPr sz="1200">
                <a:solidFill>
                  <a:srgbClr val="232A34"/>
                </a:solidFill>
                <a:latin typeface="Calibri"/>
              </a:rPr>
              <a:t>Triage tiers represent application research logic, not prospectively validated clinical guidelines.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No Prospective Clinical Trials: </a:t>
            </a:r>
            <a:r>
              <a:rPr sz="1200">
                <a:solidFill>
                  <a:srgbClr val="232A34"/>
                </a:solidFill>
                <a:latin typeface="Calibri"/>
              </a:rPr>
              <a:t>Evaluated strictly on retrospective datasets; lacks real-world hospital ward trial data.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No Radiologist Multi-Reader Study: </a:t>
            </a:r>
            <a:r>
              <a:rPr sz="1200">
                <a:solidFill>
                  <a:srgbClr val="232A34"/>
                </a:solidFill>
                <a:latin typeface="Calibri"/>
              </a:rPr>
              <a:t>Has not undergone head-to-head multi-reader multi-case (MRMC) comparison against certified radiologists.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i="1">
                <a:solidFill>
                  <a:srgbClr val="8A99AD"/>
                </a:solidFill>
                <a:latin typeface="Calibri"/>
              </a:rPr>
              <a:t>Complete disclosure of 18 limitations upholds rigorous scientific integrity.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A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100" b="1">
                <a:solidFill>
                  <a:srgbClr val="48CAE4"/>
                </a:solidFill>
                <a:latin typeface="Calibri"/>
              </a:rPr>
              <a:t>FUTURE WORK
</a:t>
            </a:r>
            <a:r>
              <a:rPr sz="2400" b="1">
                <a:solidFill>
                  <a:srgbClr val="FFFFFF"/>
                </a:solidFill>
                <a:latin typeface="Calibri"/>
              </a:rPr>
              <a:t>Prioritized Future Enhancements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5120640" cy="4663440"/>
          </a:xfrm>
          <a:prstGeom prst="rect">
            <a:avLst/>
          </a:prstGeom>
          <a:solidFill>
            <a:srgbClr val="F2F6FB"/>
          </a:solidFill>
          <a:ln w="12700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5120640" cy="438912"/>
          </a:xfrm>
          <a:prstGeom prst="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62456"/>
            <a:ext cx="48463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Near-Term Research Priorities (Tiers 1 &amp; 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548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Independent Multi-Center Gate Validation: </a:t>
            </a:r>
            <a:r>
              <a:rPr sz="1200">
                <a:solidFill>
                  <a:srgbClr val="232A34"/>
                </a:solidFill>
                <a:latin typeface="Calibri"/>
              </a:rPr>
              <a:t>Evaluate gate against &gt;5,000 diverse non-CXR medical/non-medical images with split-isolated threshold selection.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Post-Hoc Probability Calibration: </a:t>
            </a:r>
            <a:r>
              <a:rPr sz="1200">
                <a:solidFill>
                  <a:srgbClr val="232A34"/>
                </a:solidFill>
                <a:latin typeface="Calibri"/>
              </a:rPr>
              <a:t>Implement temperature scaling and Platt scaling to minimize Expected Calibration Error (ECE).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Multi-Label Classification Head: </a:t>
            </a:r>
            <a:r>
              <a:rPr sz="1200">
                <a:solidFill>
                  <a:srgbClr val="232A34"/>
                </a:solidFill>
                <a:latin typeface="Calibri"/>
              </a:rPr>
              <a:t>Transition to binary cross-entropy multi-label targets to support co-occurring pathologies (e.g., Pneumonia + Effusion).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Anatomical Lung Field Segmentation: </a:t>
            </a:r>
            <a:r>
              <a:rPr sz="1200">
                <a:solidFill>
                  <a:srgbClr val="232A34"/>
                </a:solidFill>
                <a:latin typeface="Calibri"/>
              </a:rPr>
              <a:t>Train U-Net/SegFormer to mask thoracic lung fields prior to inference, suppressing peripheral shortcuts.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25880"/>
            <a:ext cx="5212080" cy="4663440"/>
          </a:xfrm>
          <a:prstGeom prst="rect">
            <a:avLst/>
          </a:prstGeom>
          <a:solidFill>
            <a:srgbClr val="F2F6FB"/>
          </a:solidFill>
          <a:ln w="12700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25880"/>
            <a:ext cx="5212080" cy="438912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362456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Medium- &amp; Long-Term Priorities (Tiers 3 &amp; 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Weakly Supervised Lesion Localization: </a:t>
            </a:r>
            <a:r>
              <a:rPr sz="1200">
                <a:solidFill>
                  <a:srgbClr val="232A34"/>
                </a:solidFill>
                <a:latin typeface="Calibri"/>
              </a:rPr>
              <a:t>Integrate Grad-CAM++ and bounding-box regression heads for millimeter-level nodule localization.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Prospective Multi-Reader Study: </a:t>
            </a:r>
            <a:r>
              <a:rPr sz="1200">
                <a:solidFill>
                  <a:srgbClr val="232A34"/>
                </a:solidFill>
                <a:latin typeface="Calibri"/>
              </a:rPr>
              <a:t>Conduct MRMC clinical trial measuring radiologist turnaround acceleration and diagnostic accuracy with LungAI.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Enterprise PACS / DICOM Protocol: </a:t>
            </a:r>
            <a:r>
              <a:rPr sz="1200">
                <a:solidFill>
                  <a:srgbClr val="232A34"/>
                </a:solidFill>
                <a:latin typeface="Calibri"/>
              </a:rPr>
              <a:t>Implement native DICOM C-STORE and DIMSE network adapters for hospital PACS integration.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Federated Multi-Hospital Learning: </a:t>
            </a:r>
            <a:r>
              <a:rPr sz="1200">
                <a:solidFill>
                  <a:srgbClr val="232A34"/>
                </a:solidFill>
                <a:latin typeface="Calibri"/>
              </a:rPr>
              <a:t>Deploy privacy-preserving Federated Averaging across multi-center hospital nodes without centralizing scans.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i="1">
                <a:solidFill>
                  <a:srgbClr val="8A99AD"/>
                </a:solidFill>
                <a:latin typeface="Calibri"/>
              </a:rPr>
              <a:t>LungAI M.Tech Dissertation  |  Department of CSE, JNTUH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A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100" b="1">
                <a:solidFill>
                  <a:srgbClr val="48CAE4"/>
                </a:solidFill>
                <a:latin typeface="Calibri"/>
              </a:rPr>
              <a:t>THESIS SYNTHESIS
</a:t>
            </a:r>
            <a:r>
              <a:rPr sz="2400" b="1">
                <a:solidFill>
                  <a:srgbClr val="FFFFFF"/>
                </a:solidFill>
                <a:latin typeface="Calibri"/>
              </a:rPr>
              <a:t>Conclusion &amp; 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5120640" cy="4663440"/>
          </a:xfrm>
          <a:prstGeom prst="rect">
            <a:avLst/>
          </a:prstGeom>
          <a:solidFill>
            <a:srgbClr val="F2F6FB"/>
          </a:solidFill>
          <a:ln w="12700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5120640" cy="43891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62456"/>
            <a:ext cx="48463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Resolution of Core Research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548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Internal Generalization Decisively Proven: </a:t>
            </a:r>
            <a:r>
              <a:rPr sz="1200">
                <a:solidFill>
                  <a:srgbClr val="232A34"/>
                </a:solidFill>
                <a:latin typeface="Calibri"/>
              </a:rPr>
              <a:t>Frequency-aware preprocessing achieved 82.93% accuracy, 78.35% macro F1, and 0.9755 ROC-AUC (+5.72% F1 over baseline).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Covariance Alignment Effective: </a:t>
            </a:r>
            <a:r>
              <a:rPr sz="1200">
                <a:solidFill>
                  <a:srgbClr val="232A34"/>
                </a:solidFill>
                <a:latin typeface="Calibri"/>
              </a:rPr>
              <a:t>Deep CORAL demonstrated that latent covariance alignment improves internal multi-source representation learning.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Adversarial Adaptation Limitations: </a:t>
            </a:r>
            <a:r>
              <a:rPr sz="1200">
                <a:solidFill>
                  <a:srgbClr val="232A34"/>
                </a:solidFill>
                <a:latin typeface="Calibri"/>
              </a:rPr>
              <a:t>DANN failed to outperform baseline, proving minimax adaptation is not universally beneficial in medical imaging.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Sensor Shift Remains a Barrier: </a:t>
            </a:r>
            <a:r>
              <a:rPr sz="1200">
                <a:solidFill>
                  <a:srgbClr val="232A34"/>
                </a:solidFill>
                <a:latin typeface="Calibri"/>
              </a:rPr>
              <a:t>Montgomery zero-shot collapse (0% TB recall) proves digitized film vs digital detector shift requires target calibration.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25880"/>
            <a:ext cx="5212080" cy="4663440"/>
          </a:xfrm>
          <a:prstGeom prst="rect">
            <a:avLst/>
          </a:prstGeom>
          <a:solidFill>
            <a:srgbClr val="F2F6FB"/>
          </a:solidFill>
          <a:ln w="12700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25880"/>
            <a:ext cx="5212080" cy="438912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362456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Enduring Engineering Principles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8463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Forensics Precedes Architecture: </a:t>
            </a:r>
            <a:r>
              <a:rPr sz="1200">
                <a:solidFill>
                  <a:srgbClr val="232A34"/>
                </a:solidFill>
                <a:latin typeface="Calibri"/>
              </a:rPr>
              <a:t>Eliminating CT contamination and patient leakage is fundamental to scientific validity.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Input Defense is Mandatory: </a:t>
            </a:r>
            <a:r>
              <a:rPr sz="1200">
                <a:solidFill>
                  <a:srgbClr val="232A34"/>
                </a:solidFill>
                <a:latin typeface="Calibri"/>
              </a:rPr>
              <a:t>Perimeter validation gates are essential for preventing dangerous false predictions on non-CXR inputs.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Transparency Builds Trust: </a:t>
            </a:r>
            <a:r>
              <a:rPr sz="1200">
                <a:solidFill>
                  <a:srgbClr val="232A34"/>
                </a:solidFill>
                <a:latin typeface="Calibri"/>
              </a:rPr>
              <a:t>Honest disclosure of failure modes elevates medical AI research above unrealistic marketing claims.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Complete Full-Stack Realization: </a:t>
            </a:r>
            <a:r>
              <a:rPr sz="1200">
                <a:solidFill>
                  <a:srgbClr val="232A34"/>
                </a:solidFill>
                <a:latin typeface="Calibri"/>
              </a:rPr>
              <a:t>Bridging deep learning theory with responsive, auditable clinical software creates a viable reference architecture.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i="1">
                <a:solidFill>
                  <a:srgbClr val="8A99AD"/>
                </a:solidFill>
                <a:latin typeface="Calibri"/>
              </a:rPr>
              <a:t>LUNGAI: A Rigorous, Auditable, and Reproducible M.Tech Research Project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A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515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5000"/>
              </a:lnSpc>
            </a:pPr>
            <a:r>
              <a:rPr sz="1100" b="1">
                <a:solidFill>
                  <a:srgbClr val="48CAE4"/>
                </a:solidFill>
                <a:latin typeface="Calibri"/>
              </a:rPr>
              <a:t>VERIFIED IEEE &amp; PUBMED SOURCES
</a:t>
            </a:r>
            <a:r>
              <a:rPr sz="2400" b="1">
                <a:solidFill>
                  <a:srgbClr val="FFFFFF"/>
                </a:solidFill>
                <a:latin typeface="Calibri"/>
              </a:rPr>
              <a:t>Key Bibliographic 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6984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WHO (2020): </a:t>
            </a:r>
            <a:r>
              <a:rPr sz="1200">
                <a:solidFill>
                  <a:srgbClr val="232A34"/>
                </a:solidFill>
                <a:latin typeface="Calibri"/>
              </a:rPr>
              <a:t>The top 10 causes of death. WHO Global Health Estimates, Geneva, Switzerland.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Kermany et al. (Cell 2018): </a:t>
            </a:r>
            <a:r>
              <a:rPr sz="1200">
                <a:solidFill>
                  <a:srgbClr val="232A34"/>
                </a:solidFill>
                <a:latin typeface="Calibri"/>
              </a:rPr>
              <a:t>Identifying medical diagnoses and treatable diseases by image-based deep learning. Cell, 172(5), pp. 1122–1131.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Chowdhury et al. (IEEE Access 2020): </a:t>
            </a:r>
            <a:r>
              <a:rPr sz="1200">
                <a:solidFill>
                  <a:srgbClr val="232A34"/>
                </a:solidFill>
                <a:latin typeface="Calibri"/>
              </a:rPr>
              <a:t>Can AI help in screening viral and COVID-19 pneumonia? IEEE Access, vol. 8, pp. 132665–132676.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Rahman et al. (IEEE Access 2020): </a:t>
            </a:r>
            <a:r>
              <a:rPr sz="1200">
                <a:solidFill>
                  <a:srgbClr val="232A34"/>
                </a:solidFill>
                <a:latin typeface="Calibri"/>
              </a:rPr>
              <a:t>Reliable tuberculosis detection using chest X-ray with deep learning and visualization. IEEE Access, 8, pp. 191586–191601.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Rajpurkar et al. (CheXNet 2017): </a:t>
            </a:r>
            <a:r>
              <a:rPr sz="1200">
                <a:solidFill>
                  <a:srgbClr val="232A34"/>
                </a:solidFill>
                <a:latin typeface="Calibri"/>
              </a:rPr>
              <a:t>CheXNet: Radiologist-level pneumonia detection on chest X-rays with deep learning. arXiv:1711.05225.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He et al. (IEEE CVPR 2016): </a:t>
            </a:r>
            <a:r>
              <a:rPr sz="1200">
                <a:solidFill>
                  <a:srgbClr val="232A34"/>
                </a:solidFill>
                <a:latin typeface="Calibri"/>
              </a:rPr>
              <a:t>Deep residual learning for image recognition. In Proc. IEEE CVPR, pp. 770–778.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Huang et al. (IEEE CVPR 2017): </a:t>
            </a:r>
            <a:r>
              <a:rPr sz="1200">
                <a:solidFill>
                  <a:srgbClr val="232A34"/>
                </a:solidFill>
                <a:latin typeface="Calibri"/>
              </a:rPr>
              <a:t>Densely connected convolutional networks. In Proc. IEEE CVPR, pp. 4700–4708.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DeGrave et al. (Nature MI 2021): </a:t>
            </a:r>
            <a:r>
              <a:rPr sz="1200">
                <a:solidFill>
                  <a:srgbClr val="232A34"/>
                </a:solidFill>
                <a:latin typeface="Calibri"/>
              </a:rPr>
              <a:t>AI for radiographic COVID-19 detection selects shortcuts over signal. Nature Machine Intelligence, 3(7), pp. 610–619.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Selvaraju et al. (IEEE ICCV 2017): </a:t>
            </a:r>
            <a:r>
              <a:rPr sz="1200">
                <a:solidFill>
                  <a:srgbClr val="232A34"/>
                </a:solidFill>
                <a:latin typeface="Calibri"/>
              </a:rPr>
              <a:t>Grad-CAM: Visual explanations from deep networks via gradient-based localization. In Proc. IEEE ICCV, pp. 618–626.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Sun &amp; Saenko (ECCV 2016): </a:t>
            </a:r>
            <a:r>
              <a:rPr sz="1200">
                <a:solidFill>
                  <a:srgbClr val="232A34"/>
                </a:solidFill>
                <a:latin typeface="Calibri"/>
              </a:rPr>
              <a:t>Deep CORAL: Correlation alignment for deep domain adaptation. In Proc. ECCV Workshops, pp. 443–450.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Fernando et al. (IEEE ICARC 2022): </a:t>
            </a:r>
            <a:r>
              <a:rPr sz="1200">
                <a:solidFill>
                  <a:srgbClr val="232A34"/>
                </a:solidFill>
                <a:latin typeface="Calibri"/>
              </a:rPr>
              <a:t>Chest radiographs classification using multi-model deep learning. In Proc. IEEE ICARC, pp. 165–170.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b="1" sz="1200">
                <a:solidFill>
                  <a:srgbClr val="0B1F3A"/>
                </a:solidFill>
                <a:latin typeface="Calibri"/>
              </a:rPr>
              <a:t>• Deva &amp; Dagur (IEEE Access 2025): </a:t>
            </a:r>
            <a:r>
              <a:rPr sz="1200">
                <a:solidFill>
                  <a:srgbClr val="232A34"/>
                </a:solidFill>
                <a:latin typeface="Calibri"/>
              </a:rPr>
              <a:t>ViT-ResNet Fusion: An explainable hybrid framework for multiclass lung disease classification. IEEE Access, vol. 13.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i="1">
                <a:solidFill>
                  <a:srgbClr val="8A99AD"/>
                </a:solidFill>
                <a:latin typeface="Calibri"/>
              </a:rPr>
              <a:t>Complete 36-reference bibliography documented in thesis dissertation.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