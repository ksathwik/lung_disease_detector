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LungAI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2EA3D9"/>
                </a:solidFill>
                <a:latin typeface="Calibri"/>
              </a:rPr>
              <a:t>AI-Powered Lung Disease Detection from Chest X-rays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C9D6E6"/>
                </a:solidFill>
                <a:latin typeface="Calibri"/>
              </a:rPr>
              <a:t>Deep Learning system comparing a custom CNN and ResNet50 transfer learning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8FA6C4"/>
                </a:solidFill>
                <a:latin typeface="Calibri"/>
              </a:rPr>
              <a:t>FastAPI  •  React  •  TensorFlow / Keras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6E86A6"/>
                </a:solidFill>
                <a:latin typeface="Calibri"/>
              </a:rPr>
              <a:t>Academic Project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•  Burden</a:t>
            </a:r>
            <a:r>
              <a:rPr sz="1500">
                <a:solidFill>
                  <a:srgbClr val="55606E"/>
                </a:solidFill>
                <a:latin typeface="Calibri"/>
              </a:rPr>
              <a:t>  —  Lung diseases (pneumonia, TB, COVID-19) are leading causes of death worldwide.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•  Bottleneck</a:t>
            </a:r>
            <a:r>
              <a:rPr sz="1500">
                <a:solidFill>
                  <a:srgbClr val="55606E"/>
                </a:solidFill>
                <a:latin typeface="Calibri"/>
              </a:rPr>
              <a:t>  —  Chest X-ray interpretation needs trained radiologists, who are scarce in many regions.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•  Delay</a:t>
            </a:r>
            <a:r>
              <a:rPr sz="1500">
                <a:solidFill>
                  <a:srgbClr val="55606E"/>
                </a:solidFill>
                <a:latin typeface="Calibri"/>
              </a:rPr>
              <a:t>  —  Slow diagnosis delays treatment and worsens outcomes.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•  Variability</a:t>
            </a:r>
            <a:r>
              <a:rPr sz="1500">
                <a:solidFill>
                  <a:srgbClr val="55606E"/>
                </a:solidFill>
                <a:latin typeface="Calibri"/>
              </a:rPr>
              <a:t>  —  Manual reading is subjective and error-prone under heavy workloads.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•  Opportunity</a:t>
            </a:r>
            <a:r>
              <a:rPr sz="1500">
                <a:solidFill>
                  <a:srgbClr val="55606E"/>
                </a:solidFill>
                <a:latin typeface="Calibri"/>
              </a:rPr>
              <a:t>  —  Deep learning can flag abnormalities quickly and consistently as a decision-support aid.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417320"/>
            <a:ext cx="5257800" cy="40233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257800" cy="4572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53896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Project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84248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Detect 7 lung conditions from a single chest X-ray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Train &amp; compare two algorithms (CNN vs ResNet50)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Automatically select the best-performing model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Serve predictions through a clean web application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Store patients, scans, predictions &amp;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5606E"/>
                </a:solidFill>
                <a:latin typeface="Calibri"/>
              </a:rPr>
              <a:t>Disclaimer: An academic decision-support prototype — it assists, not replaces, qualified physicians.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4206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566160" cy="457200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53896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  (React)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Analyze: upload X-ray &amp; view result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Metrics: CNN vs ResNet charts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History: past predictions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Patients: record management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Axios API service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566160" cy="4206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566160" cy="457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53896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Backend  (FastAPI)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84248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REST API under /api/v1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predict / predictions endpoints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patients &amp; reports CRUD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ML inference engine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Health check + logging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566160" cy="4206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53896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Data &amp;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84248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TensorFlow / Keras models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Preprocessing pipeline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SQLAlchemy ORM database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Trained .h5 model files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Training curves &amp; matrices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Flow:  </a:t>
            </a:r>
            <a:r>
              <a:rPr sz="1400" b="0">
                <a:solidFill>
                  <a:srgbClr val="55606E"/>
                </a:solidFill>
                <a:latin typeface="Calibri"/>
              </a:rPr>
              <a:t>User uploads X-ray  →  React  →  FastAPI  →  Preprocess  →  Model inference  →  Prediction stored  →  Result +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FROM RAW X-RAYS TO MODEL-READY TENSORS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71323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" cy="713232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53896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1. Scan   </a:t>
            </a:r>
            <a:r>
              <a:rPr sz="1300" b="0">
                <a:solidFill>
                  <a:srgbClr val="55606E"/>
                </a:solidFill>
                <a:latin typeface="Calibri"/>
              </a:rPr>
              <a:t>Index all images &amp; labels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486400" cy="71323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109728" cy="71323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53896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2. Clean   </a:t>
            </a:r>
            <a:r>
              <a:rPr sz="1300" b="0">
                <a:solidFill>
                  <a:srgbClr val="55606E"/>
                </a:solidFill>
                <a:latin typeface="Calibri"/>
              </a:rPr>
              <a:t>Drop duplicates, corrupt &amp; tiny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58568"/>
            <a:ext cx="5486400" cy="71323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58568"/>
            <a:ext cx="109728" cy="713232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95144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3. Enhance   </a:t>
            </a:r>
            <a:r>
              <a:rPr sz="1300" b="0">
                <a:solidFill>
                  <a:srgbClr val="55606E"/>
                </a:solidFill>
                <a:latin typeface="Calibri"/>
              </a:rPr>
              <a:t>CLAHE contrast (critical for X-rays)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58568"/>
            <a:ext cx="5486400" cy="71323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258568"/>
            <a:ext cx="109728" cy="71323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295144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4. Denoise   </a:t>
            </a:r>
            <a:r>
              <a:rPr sz="1300" b="0">
                <a:solidFill>
                  <a:srgbClr val="55606E"/>
                </a:solidFill>
                <a:latin typeface="Calibri"/>
              </a:rPr>
              <a:t>Gaussian blur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99816"/>
            <a:ext cx="5486400" cy="71323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99816"/>
            <a:ext cx="109728" cy="713232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136392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5. Split   </a:t>
            </a:r>
            <a:r>
              <a:rPr sz="1300" b="0">
                <a:solidFill>
                  <a:srgbClr val="55606E"/>
                </a:solidFill>
                <a:latin typeface="Calibri"/>
              </a:rPr>
              <a:t>70% train / 15% val / 15% test (stratified)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099816"/>
            <a:ext cx="5486400" cy="71323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099816"/>
            <a:ext cx="109728" cy="71323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136392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6. Augment   </a:t>
            </a:r>
            <a:r>
              <a:rPr sz="1300" b="0">
                <a:solidFill>
                  <a:srgbClr val="55606E"/>
                </a:solidFill>
                <a:latin typeface="Calibri"/>
              </a:rPr>
              <a:t>Flip, rotate ±15°, brightness jitter (train only)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41064"/>
            <a:ext cx="5486400" cy="71323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41064"/>
            <a:ext cx="109728" cy="713232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977640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7. Normalize   </a:t>
            </a:r>
            <a:r>
              <a:rPr sz="1300" b="0">
                <a:solidFill>
                  <a:srgbClr val="55606E"/>
                </a:solidFill>
                <a:latin typeface="Calibri"/>
              </a:rPr>
              <a:t>ImageNet mean / std normalization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606E"/>
                </a:solidFill>
                <a:latin typeface="Calibri"/>
              </a:rPr>
              <a:t>Output: 224×224×3 tensors  •  7 balanced classes  •  augmentation applied only to the training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Conditions Detected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7-CLASS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651760" cy="132588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23774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554480"/>
            <a:ext cx="2651760" cy="132588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3774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Pneumonia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2651760" cy="1325880"/>
          </a:xfrm>
          <a:prstGeom prst="rect">
            <a:avLst/>
          </a:prstGeom>
          <a:solidFill>
            <a:srgbClr val="8A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23774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Tuberculosis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1554480"/>
            <a:ext cx="2651760" cy="13258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645920"/>
            <a:ext cx="23774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COVID-19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2651760" cy="1325880"/>
          </a:xfrm>
          <a:prstGeom prst="rect">
            <a:avLst/>
          </a:prstGeom>
          <a:solidFill>
            <a:srgbClr val="6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23774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Lung Cancer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108960"/>
            <a:ext cx="2651760" cy="1325880"/>
          </a:xfrm>
          <a:prstGeom prst="rect">
            <a:avLst/>
          </a:prstGeom>
          <a:solidFill>
            <a:srgbClr val="2C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200400"/>
            <a:ext cx="23774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COPD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108960"/>
            <a:ext cx="2651760" cy="1325880"/>
          </a:xfrm>
          <a:prstGeom prst="rect">
            <a:avLst/>
          </a:prstGeom>
          <a:solidFill>
            <a:srgbClr val="4F6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23774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Pleural Effusion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606E"/>
                </a:solidFill>
                <a:latin typeface="Calibri"/>
              </a:rPr>
              <a:t>Softmax output over 7 classes  •  input 224×224×3  •  per-class confidence returned with each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Algorithm 1 — Custom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BUILT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Type</a:t>
            </a:r>
            <a:r>
              <a:rPr sz="1400">
                <a:solidFill>
                  <a:srgbClr val="55606E"/>
                </a:solidFill>
                <a:latin typeface="Calibri"/>
              </a:rPr>
              <a:t>  —  Custom convolutional network, trained end-to-end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Depth</a:t>
            </a:r>
            <a:r>
              <a:rPr sz="1400">
                <a:solidFill>
                  <a:srgbClr val="55606E"/>
                </a:solidFill>
                <a:latin typeface="Calibri"/>
              </a:rPr>
              <a:t>  —  4 convolutional blocks (32 → 64 → 128 → 256 filters)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Each block</a:t>
            </a:r>
            <a:r>
              <a:rPr sz="1400">
                <a:solidFill>
                  <a:srgbClr val="55606E"/>
                </a:solidFill>
                <a:latin typeface="Calibri"/>
              </a:rPr>
              <a:t>  —  Conv2D + BatchNorm + ReLU + MaxPool + Dropout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Head</a:t>
            </a:r>
            <a:r>
              <a:rPr sz="1400">
                <a:solidFill>
                  <a:srgbClr val="55606E"/>
                </a:solidFill>
                <a:latin typeface="Calibri"/>
              </a:rPr>
              <a:t>  —  GlobalAvgPool → Dense(512) → Dropout(0.5) → Softmax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Optimizer</a:t>
            </a:r>
            <a:r>
              <a:rPr sz="1400">
                <a:solidFill>
                  <a:srgbClr val="55606E"/>
                </a:solidFill>
                <a:latin typeface="Calibri"/>
              </a:rPr>
              <a:t>  —  Adam, learning rate 1e-4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Loss</a:t>
            </a:r>
            <a:r>
              <a:rPr sz="1400">
                <a:solidFill>
                  <a:srgbClr val="55606E"/>
                </a:solidFill>
                <a:latin typeface="Calibri"/>
              </a:rPr>
              <a:t>  —  Sparse categorical cross-entropy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Best for</a:t>
            </a:r>
            <a:r>
              <a:rPr sz="1400">
                <a:solidFill>
                  <a:srgbClr val="55606E"/>
                </a:solidFill>
                <a:latin typeface="Calibri"/>
              </a:rPr>
              <a:t>  —  Smaller, focused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417320"/>
            <a:ext cx="5257800" cy="4206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257800" cy="457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53896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Layer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84248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Input 224×224×3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Conv Block 1  →  32 filters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Conv Block 2  →  64 filters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Conv Block 3  →  128 filters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Conv Block 4  →  256 filters + GAP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Dense 512 + Dropout 0.5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Dense 7 + Softmax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Algorithm 2 — ResNet50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PRETRAINED ON IMAGENET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Base</a:t>
            </a:r>
            <a:r>
              <a:rPr sz="1400">
                <a:solidFill>
                  <a:srgbClr val="55606E"/>
                </a:solidFill>
                <a:latin typeface="Calibri"/>
              </a:rPr>
              <a:t>  —  ResNet50, 50-layer residual network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Weights</a:t>
            </a:r>
            <a:r>
              <a:rPr sz="1400">
                <a:solidFill>
                  <a:srgbClr val="55606E"/>
                </a:solidFill>
                <a:latin typeface="Calibri"/>
              </a:rPr>
              <a:t>  —  Pretrained on ImageNet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Head</a:t>
            </a:r>
            <a:r>
              <a:rPr sz="1400">
                <a:solidFill>
                  <a:srgbClr val="55606E"/>
                </a:solidFill>
                <a:latin typeface="Calibri"/>
              </a:rPr>
              <a:t>  —  GAP → Dense(1024) → Dense(512) → Softmax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Phase 1</a:t>
            </a:r>
            <a:r>
              <a:rPr sz="1400">
                <a:solidFill>
                  <a:srgbClr val="55606E"/>
                </a:solidFill>
                <a:latin typeface="Calibri"/>
              </a:rPr>
              <a:t>  —  Freeze base, train classifier head (10 epochs, LR 1e-3)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Phase 2</a:t>
            </a:r>
            <a:r>
              <a:rPr sz="1400">
                <a:solidFill>
                  <a:srgbClr val="55606E"/>
                </a:solidFill>
                <a:latin typeface="Calibri"/>
              </a:rPr>
              <a:t>  —  Unfreeze top 30 layers, fine-tune (LR 1e-5)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•  Best for</a:t>
            </a:r>
            <a:r>
              <a:rPr sz="1400">
                <a:solidFill>
                  <a:srgbClr val="55606E"/>
                </a:solidFill>
                <a:latin typeface="Calibri"/>
              </a:rPr>
              <a:t>  —  Larger, diverse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417320"/>
            <a:ext cx="5257800" cy="4206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257800" cy="4572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53896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Two-Phase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84248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Load ResNet50 (ImageNet, no top)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Phase 1: base frozen → learn head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Phase 2: unfreeze top 30 layers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Fine-tune with very low LR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Callbacks: EarlyStopping,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ReduceLROnPlateau, Checkpoint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Model Comparison &amp;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AUTOMATIC BEST-MODEL PICK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17320"/>
            <a:ext cx="402336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41732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Custom CNN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417320"/>
            <a:ext cx="402336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8" y="141732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ResNet50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2743200" cy="548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965960"/>
            <a:ext cx="4023360" cy="548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96596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From scratch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965960"/>
            <a:ext cx="4023360" cy="548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8" y="196596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Transfer 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1460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51460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1460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251460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4 conv blocks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51460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251460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50 residual 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63240"/>
            <a:ext cx="2743200" cy="548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06324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Pretrained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063240"/>
            <a:ext cx="4023360" cy="548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306324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063240"/>
            <a:ext cx="4023360" cy="548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24928" y="306324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ImageNet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1188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118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Training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61188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61188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End-to-end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61188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24928" y="361188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2-phase fine-tune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60520"/>
            <a:ext cx="2743200" cy="548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16052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Strength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160520"/>
            <a:ext cx="4023360" cy="548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416052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Small datasets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4160520"/>
            <a:ext cx="4023360" cy="548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4928" y="416052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Large datasets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029200"/>
            <a:ext cx="1106424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065776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Selection Formula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5961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Composite score  =  0.4 × F1  +  0.3 × Accuracy  +  0.2 × AUC-ROC  +  0.1 × Recall   →   higher score wins (ResNet50 typically on larger data)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Evaluation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HOW WE MEASURE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2044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20440" cy="10972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Accuracy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5606E"/>
                </a:solidFill>
                <a:latin typeface="Calibri"/>
              </a:rPr>
              <a:t>Overall correct predictions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352044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3520440" cy="10972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55648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Precision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5606E"/>
                </a:solidFill>
                <a:latin typeface="Calibri"/>
              </a:rPr>
              <a:t>Correctness of positive calls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52044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20440" cy="10972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55648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5606E"/>
                </a:solidFill>
                <a:latin typeface="Calibri"/>
              </a:rPr>
              <a:t>Coverage of actual positives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352044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3520440" cy="1097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47288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F1-Score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5606E"/>
                </a:solidFill>
                <a:latin typeface="Calibri"/>
              </a:rPr>
              <a:t>Balance of precision &amp; 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46120"/>
            <a:ext cx="352044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246120"/>
            <a:ext cx="3520440" cy="1097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47288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AUC-ROC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5606E"/>
                </a:solidFill>
                <a:latin typeface="Calibri"/>
              </a:rPr>
              <a:t>Class separability (macro OvR)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46120"/>
            <a:ext cx="352044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246120"/>
            <a:ext cx="3520440" cy="1097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447288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Confusion Matrix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5606E"/>
                </a:solidFill>
                <a:latin typeface="Calibri"/>
              </a:rPr>
              <a:t>Per-class error breakdown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5606E"/>
                </a:solidFill>
                <a:latin typeface="Calibri"/>
              </a:rPr>
              <a:t>Generated artifacts: training_results.json, training_curves.png, confusion_matrix_CNN.png, confusion_matrix_ResNet.png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TOOLS &amp;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4206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566160" cy="457200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53896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React (SPA)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React Router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Axios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Chart components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Custom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566160" cy="4206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566160" cy="457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53896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84248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FastAPI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Uvicorn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SQLAlchemy (async ORM)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Pydantic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Python 3.10+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566160" cy="4206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53896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ML &amp;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84248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TensorFlow / Keras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ResNet50 (ImageNet)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scikit-learn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OpenCV (CLAHE)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NumPy, Matplotlib, Seaborn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API &amp;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INTERFACES AND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0B1F3A"/>
                </a:solidFill>
                <a:latin typeface="Calibri"/>
              </a:rPr>
              <a:t>•  GET  /api/v1/health  —  health check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0B1F3A"/>
                </a:solidFill>
                <a:latin typeface="Calibri"/>
              </a:rPr>
              <a:t>•  POST /api/v1/predict  —  upload image, get prediction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0B1F3A"/>
                </a:solidFill>
                <a:latin typeface="Calibri"/>
              </a:rPr>
              <a:t>•  GET  /api/v1/predictions  —  list all predictions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0B1F3A"/>
                </a:solidFill>
                <a:latin typeface="Calibri"/>
              </a:rPr>
              <a:t>•  GET  /api/v1/predictions/{id}  —  single prediction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0B1F3A"/>
                </a:solidFill>
                <a:latin typeface="Calibri"/>
              </a:rPr>
              <a:t>•  GET  /api/v1/model-metrics  —  CNN vs ResNet metrics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0B1F3A"/>
                </a:solidFill>
                <a:latin typeface="Calibri"/>
              </a:rPr>
              <a:t>•  POST /api/v1/patients  —  register patient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0B1F3A"/>
                </a:solidFill>
                <a:latin typeface="Calibri"/>
              </a:rPr>
              <a:t>•  POST /api/v1/reports/generate/{id}  — 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417320"/>
            <a:ext cx="5257800" cy="4206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257800" cy="457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53896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Database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84248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patients — demographics &amp; history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lung_scans — uploaded image metadata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predictions — CNN + ResNet results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model_metrics — per-version metrics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reports — generated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Application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TYPICAL USER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640080" cy="56692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640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0B1F3A"/>
                </a:solidFill>
                <a:latin typeface="Calibri"/>
              </a:rPr>
              <a:t>Register / select a patient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12848"/>
            <a:ext cx="640080" cy="5669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640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1284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0B1F3A"/>
                </a:solidFill>
                <a:latin typeface="Calibri"/>
              </a:rPr>
              <a:t>Upload a chest X-ray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62656"/>
            <a:ext cx="640080" cy="56692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62656"/>
            <a:ext cx="640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0B1F3A"/>
                </a:solidFill>
                <a:latin typeface="Calibri"/>
              </a:rPr>
              <a:t>Backend preprocesses the image (resize, CLAHE, normalize)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12464"/>
            <a:ext cx="640080" cy="5669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12464"/>
            <a:ext cx="640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1246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0B1F3A"/>
                </a:solidFill>
                <a:latin typeface="Calibri"/>
              </a:rPr>
              <a:t>Selected model runs inference → 7-class probabilities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62272"/>
            <a:ext cx="640080" cy="56692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62272"/>
            <a:ext cx="640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6227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0B1F3A"/>
                </a:solidFill>
                <a:latin typeface="Calibri"/>
              </a:rPr>
              <a:t>Top prediction + confidence shown in the 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12080"/>
            <a:ext cx="640080" cy="5669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640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120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0B1F3A"/>
                </a:solidFill>
                <a:latin typeface="Calibri"/>
              </a:rPr>
              <a:t>Result saved to history; report can be generated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Challenges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EA3D9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394960" cy="429768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394960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53896"/>
            <a:ext cx="5120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Data quality &amp; class imbalance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Limited labeled medical images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Risk of overfitting on small data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Compute cost of training ResNet50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Generalizing across X-ray machines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394960" cy="429768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394960" cy="4572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53896"/>
            <a:ext cx="5120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84248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DICOM support via pydicom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Grad-CAM explainability heatmaps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GPU deployment (NVIDIA T4+)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Larger datasets (5,000+ / class)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B1F3A"/>
                </a:solidFill>
                <a:latin typeface="Calibri"/>
              </a:rPr>
              <a:t>•  Clinical validation &amp; PDF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64008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DDE6F2"/>
                </a:solidFill>
                <a:latin typeface="Calibri"/>
              </a:rPr>
              <a:t>•  End-to-end system: data pipeline → two models → web app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DDE6F2"/>
                </a:solidFill>
                <a:latin typeface="Calibri"/>
              </a:rPr>
              <a:t>•  Custom CNN and ResNet50 trained, evaluated &amp; auto-compared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DDE6F2"/>
                </a:solidFill>
                <a:latin typeface="Calibri"/>
              </a:rPr>
              <a:t>•  Best model selected via a weighted composite score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DDE6F2"/>
                </a:solidFill>
                <a:latin typeface="Calibri"/>
              </a:rPr>
              <a:t>•  Detects 7 lung conditions from chest X-rays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DDE6F2"/>
                </a:solidFill>
                <a:latin typeface="Calibri"/>
              </a:rPr>
              <a:t>•  Designed as a decision-support aid for clinicians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2EA3D9"/>
                </a:solidFill>
                <a:latin typeface="Calibri"/>
              </a:rPr>
              <a:t>Thank you  —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